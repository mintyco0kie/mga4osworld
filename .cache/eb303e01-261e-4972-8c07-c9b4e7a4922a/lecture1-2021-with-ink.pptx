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985000" cy="9283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57CBC02-7C11-4F64-82C0-E12ED6B1295A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Num" idx="24"/>
          </p:nvPr>
        </p:nvSpPr>
        <p:spPr>
          <a:xfrm>
            <a:off x="3957480" y="8820000"/>
            <a:ext cx="3025800" cy="462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554F702-5A80-4522-85C0-9F54E961E53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Img"/>
          </p:nvPr>
        </p:nvSpPr>
        <p:spPr>
          <a:xfrm>
            <a:off x="1171440" y="696960"/>
            <a:ext cx="4640400" cy="34801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932040" y="4410000"/>
            <a:ext cx="5119920" cy="4175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Num" idx="25"/>
          </p:nvPr>
        </p:nvSpPr>
        <p:spPr>
          <a:xfrm>
            <a:off x="3957480" y="8820000"/>
            <a:ext cx="3025800" cy="462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AA5E543-FA10-4C98-8038-966C8552C86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ldImg"/>
          </p:nvPr>
        </p:nvSpPr>
        <p:spPr>
          <a:xfrm>
            <a:off x="1171440" y="696960"/>
            <a:ext cx="4640400" cy="34801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932040" y="4410000"/>
            <a:ext cx="5119920" cy="4175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Num" idx="26"/>
          </p:nvPr>
        </p:nvSpPr>
        <p:spPr>
          <a:xfrm>
            <a:off x="3957480" y="8820000"/>
            <a:ext cx="3025800" cy="462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9A64EB4-7B76-4615-8A0E-FBDFD56A7C9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Img"/>
          </p:nvPr>
        </p:nvSpPr>
        <p:spPr>
          <a:xfrm>
            <a:off x="1171440" y="696960"/>
            <a:ext cx="4640400" cy="34801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932040" y="4410000"/>
            <a:ext cx="5119920" cy="4175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Num" idx="27"/>
          </p:nvPr>
        </p:nvSpPr>
        <p:spPr>
          <a:xfrm>
            <a:off x="3957480" y="8820000"/>
            <a:ext cx="3025800" cy="462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F9CD53A-9A9C-4069-B030-54DFC68FB0B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Img"/>
          </p:nvPr>
        </p:nvSpPr>
        <p:spPr>
          <a:xfrm>
            <a:off x="1171440" y="696960"/>
            <a:ext cx="4640400" cy="34801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932040" y="4410000"/>
            <a:ext cx="5119920" cy="4175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You should also try to answer!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Num" idx="28"/>
          </p:nvPr>
        </p:nvSpPr>
        <p:spPr>
          <a:xfrm>
            <a:off x="3957480" y="8820000"/>
            <a:ext cx="3025800" cy="462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05A926D-FBA6-4E50-874A-5EAEA362626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ldImg"/>
          </p:nvPr>
        </p:nvSpPr>
        <p:spPr>
          <a:xfrm>
            <a:off x="1173240" y="696960"/>
            <a:ext cx="4640400" cy="34801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98400" y="4410000"/>
            <a:ext cx="5586480" cy="4175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To pass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at least 50% in both your overall grade and  your final  exam grade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Num" idx="29"/>
          </p:nvPr>
        </p:nvSpPr>
        <p:spPr>
          <a:xfrm>
            <a:off x="3957480" y="8820000"/>
            <a:ext cx="3025800" cy="462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1C37C27-7621-4D16-8303-31FC6ACB5D8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Img"/>
          </p:nvPr>
        </p:nvSpPr>
        <p:spPr>
          <a:xfrm>
            <a:off x="1171440" y="696960"/>
            <a:ext cx="4640400" cy="34801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932040" y="4410000"/>
            <a:ext cx="5119920" cy="4175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HK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Num" idx="30"/>
          </p:nvPr>
        </p:nvSpPr>
        <p:spPr>
          <a:xfrm>
            <a:off x="3957480" y="8820000"/>
            <a:ext cx="3025800" cy="462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004625E-E9FF-4696-AF96-16A9E8E7335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Img"/>
          </p:nvPr>
        </p:nvSpPr>
        <p:spPr>
          <a:xfrm>
            <a:off x="1173240" y="696960"/>
            <a:ext cx="4640400" cy="34801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98400" y="4410000"/>
            <a:ext cx="5586480" cy="4175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copying someone else's code or allowing someone to copy your code, in whole or in part, electronically or manually; 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viewing someone else's code on screen and then copying it into your own code; 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allowing someone to view your code; </a:t>
            </a: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hiring a tutor to assist writing the code in whole or in part. . </a:t>
            </a:r>
            <a:endParaRPr b="0" lang="en-HK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CF603B-B731-4570-95DF-F2F66567B0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04EE82-510D-43CA-9CDF-8E9DC47DB1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B409ED-FEBD-4664-AA5D-3533CDC5CB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D038F2-95F9-48BB-A1AF-ABE04575BA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6B076D-E55B-43BD-9E07-D888287891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F04AAD-0AD5-4CD2-AC0B-800B93B8ED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C3C6E1-3CD7-46FC-8FC9-04BE59C355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892C84-6362-4E24-9DDE-943D4C4668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83FA11-4584-4459-A0D4-6E1D688E49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4ACDE4-C365-4B7B-8C8F-58DE7E844A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A75603-E01B-437C-9EFF-1F2AA9AC92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86B4D8-439F-4670-8771-8210ED3432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F58D71C-3781-4D18-ACDB-9E6F90E1F2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F07338-8B5F-4503-A329-7587773455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9FC2F4-890F-49B4-A79E-B2FD79A931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01C6EC6-FCE8-4094-98B6-D53531E141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D1D8A7-D4E1-4452-8CC4-C93E39BB2C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A6FDEAC-16B9-4E7E-8723-775ABD16EF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9E93CD1-955D-4FC2-BAF1-36BB3BFA62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7BBCF4-7826-4F10-922F-C88EC33A88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872472-A057-4257-A45D-86D689EEBC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AC990C-4DA2-4CD2-841A-7DA1DAB749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9018D7-A737-4E7D-9F3F-C8FAEF413B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33E2A59-C08C-4E8E-AA4A-87A4165920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248520"/>
            <a:ext cx="289404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24852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1423757-8B6D-4E60-8FE4-9ABD5E8B291E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685800" y="624852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248520"/>
            <a:ext cx="289404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24852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B66336F-FBB2-4A1B-A07E-03A57930F315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685800" y="624852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cs.ubc.ca/~carenini/TEACHING/CPSC422-17/index.html" TargetMode="Externa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people.cs.ubc.ca/~poole/aibook/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aispace.org/" TargetMode="Externa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ftr" idx="10"/>
          </p:nvPr>
        </p:nvSpPr>
        <p:spPr>
          <a:xfrm>
            <a:off x="3124080" y="6248520"/>
            <a:ext cx="289404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11"/>
          </p:nvPr>
        </p:nvSpPr>
        <p:spPr>
          <a:xfrm>
            <a:off x="6553080" y="624852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F2677B40-EE4B-4321-9BF3-E2B14DB7A446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179640" y="907920"/>
            <a:ext cx="8761680" cy="4456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2401"/>
              </a:spcBef>
              <a:buNone/>
            </a:pPr>
            <a:r>
              <a:rPr b="1" lang="en-US" sz="4800" spc="-1" strike="noStrike">
                <a:solidFill>
                  <a:srgbClr val="3333cc"/>
                </a:solidFill>
                <a:latin typeface="Arial Unicode MS"/>
                <a:ea typeface="DejaVu Sans"/>
              </a:rPr>
              <a:t>Intelligent Systems (AI-2)</a:t>
            </a:r>
            <a:endParaRPr b="0" lang="en-HK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endParaRPr b="0" lang="en-HK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599"/>
              </a:spcBef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Computer Science CPSC422, Lecture 1</a:t>
            </a:r>
            <a:endParaRPr b="0" lang="en-HK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00"/>
              </a:spcBef>
              <a:buNone/>
            </a:pPr>
            <a:endParaRPr b="0" lang="en-HK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00"/>
              </a:spcBef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  <a:ea typeface="DejaVu Sans"/>
              </a:rPr>
              <a:t>Jan 11, 2021</a:t>
            </a:r>
            <a:endParaRPr b="0" lang="en-HK" sz="2800" spc="-1" strike="noStrike">
              <a:latin typeface="Arial"/>
            </a:endParaRPr>
          </a:p>
        </p:txBody>
      </p:sp>
      <p:sp>
        <p:nvSpPr>
          <p:cNvPr id="91" name="AutoShape 7"/>
          <p:cNvSpPr/>
          <p:nvPr/>
        </p:nvSpPr>
        <p:spPr>
          <a:xfrm>
            <a:off x="181080" y="-21276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ftr" idx="12"/>
          </p:nvPr>
        </p:nvSpPr>
        <p:spPr>
          <a:xfrm>
            <a:off x="3124080" y="6248520"/>
            <a:ext cx="289404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13"/>
          </p:nvPr>
        </p:nvSpPr>
        <p:spPr>
          <a:xfrm>
            <a:off x="6553080" y="624852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B8CC2291-3875-4F65-B349-C9E461AD6BC4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285840" y="0"/>
            <a:ext cx="8533080" cy="684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Arial Unicode MS"/>
              </a:rPr>
              <a:t>Course Essentials(1)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0" y="764640"/>
            <a:ext cx="9142560" cy="5759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Course website:</a:t>
            </a:r>
            <a:endParaRPr b="0" lang="en-HK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    </a:t>
            </a:r>
            <a:r>
              <a:rPr b="0" lang="en-US" sz="2000" spc="-1" strike="noStrike" u="sng">
                <a:solidFill>
                  <a:srgbClr val="808080"/>
                </a:solidFill>
                <a:uFillTx/>
                <a:latin typeface="Arial"/>
                <a:hlinkClick r:id="rId1"/>
              </a:rPr>
              <a:t>www.cs.ubc.ca/~carenini/TEACHING/CPSC422-21/index.html</a:t>
            </a:r>
            <a:endParaRPr b="0" lang="en-HK" sz="20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This is where most information about the course will be posted, most handouts (e.g., slides) will be distributed, etc.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3333cc"/>
                </a:solidFill>
                <a:latin typeface="Arial Unicode MS"/>
              </a:rPr>
              <a:t>CHECK IT OFTEN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!</a:t>
            </a:r>
            <a:r>
              <a:rPr b="0" lang="en-US" sz="2400" spc="-1" strike="noStrike">
                <a:solidFill>
                  <a:srgbClr val="ff0000"/>
                </a:solidFill>
                <a:latin typeface="Arial Unicode MS"/>
              </a:rPr>
              <a:t> (draft already available on Canvas) </a:t>
            </a:r>
            <a:endParaRPr b="0" lang="en-HK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Lectures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: </a:t>
            </a:r>
            <a:endParaRPr b="0" lang="en-HK" sz="28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Cover basic notions and concepts known to be hard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I will try to </a:t>
            </a:r>
            <a:r>
              <a:rPr b="0" lang="en-US" sz="2400" spc="-1" strike="noStrike">
                <a:solidFill>
                  <a:srgbClr val="2d2db9"/>
                </a:solidFill>
                <a:latin typeface="Arial Unicode MS"/>
              </a:rPr>
              <a:t>post the slides in advance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(by 3:30). 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After class, I will post the same </a:t>
            </a:r>
            <a:r>
              <a:rPr b="0" lang="en-US" sz="2400" spc="-1" strike="noStrike">
                <a:solidFill>
                  <a:srgbClr val="2d2db9"/>
                </a:solidFill>
                <a:latin typeface="Arial Unicode MS"/>
              </a:rPr>
              <a:t>slides inked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with the notes I have added in class.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Each lecture will end with a set of </a:t>
            </a:r>
            <a:r>
              <a:rPr b="0" lang="en-US" sz="2400" spc="-1" strike="noStrike">
                <a:solidFill>
                  <a:srgbClr val="2d2db9"/>
                </a:solidFill>
                <a:latin typeface="Arial Unicode MS"/>
              </a:rPr>
              <a:t>learning goals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: </a:t>
            </a:r>
            <a:endParaRPr b="0" lang="en-HK" sz="2400" spc="-1" strike="noStrike">
              <a:latin typeface="Arial"/>
            </a:endParaRPr>
          </a:p>
          <a:p>
            <a:pPr marL="743040" indent="-28584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000000"/>
                </a:solidFill>
                <a:latin typeface="Arial Unicode MS"/>
              </a:rPr>
              <a:t>Student can….</a:t>
            </a:r>
            <a:endParaRPr b="0" lang="en-HK" sz="2400" spc="-1" strike="noStrike">
              <a:latin typeface="Arial"/>
            </a:endParaRPr>
          </a:p>
        </p:txBody>
      </p:sp>
      <p:pic>
        <p:nvPicPr>
          <p:cNvPr id="96" name="Picture 2" descr="https://encrypted-tbn2.gstatic.com/images?q=tbn:ANd9GcT_xspWw6FTsQn7zZ3mZ0l6e6cX3BJ3RqfoukwdYs7fbMeSuZGlUQ"/>
          <p:cNvPicPr/>
          <p:nvPr/>
        </p:nvPicPr>
        <p:blipFill>
          <a:blip r:embed="rId2"/>
          <a:stretch/>
        </p:blipFill>
        <p:spPr>
          <a:xfrm>
            <a:off x="8100360" y="2781000"/>
            <a:ext cx="934560" cy="93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ftr" idx="14"/>
          </p:nvPr>
        </p:nvSpPr>
        <p:spPr>
          <a:xfrm>
            <a:off x="3124080" y="6248520"/>
            <a:ext cx="289404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15"/>
          </p:nvPr>
        </p:nvSpPr>
        <p:spPr>
          <a:xfrm>
            <a:off x="6553080" y="624852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73BB541F-A66C-478F-BACC-19FA34CEA73D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title"/>
          </p:nvPr>
        </p:nvSpPr>
        <p:spPr>
          <a:xfrm>
            <a:off x="285840" y="0"/>
            <a:ext cx="8533080" cy="684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Arial Unicode MS"/>
              </a:rPr>
              <a:t>Course Essentials(2)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0" y="1124640"/>
            <a:ext cx="9142560" cy="435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Arial Unicode MS"/>
              </a:rPr>
              <a:t>Textbook</a:t>
            </a:r>
            <a:r>
              <a:rPr b="0" lang="en-US" sz="3200" spc="-1" strike="noStrike">
                <a:solidFill>
                  <a:srgbClr val="000000"/>
                </a:solidFill>
                <a:latin typeface="Arial Unicode MS"/>
              </a:rPr>
              <a:t>: Selected Chapters from</a:t>
            </a: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Artificial Intelligence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, 2</a:t>
            </a:r>
            <a:r>
              <a:rPr b="0" lang="en-US" sz="2800" spc="-1" strike="noStrike" baseline="30000">
                <a:solidFill>
                  <a:srgbClr val="000000"/>
                </a:solidFill>
                <a:latin typeface="Arial Unicode MS"/>
              </a:rPr>
              <a:t>nd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  Edition,  by Poole, Mackworth.  </a:t>
            </a:r>
            <a:r>
              <a:rPr b="0" lang="en-US" sz="2800" spc="-1" strike="noStrike" u="sng">
                <a:solidFill>
                  <a:srgbClr val="808080"/>
                </a:solidFill>
                <a:uFillTx/>
                <a:latin typeface="Arial Unicode MS"/>
                <a:hlinkClick r:id="rId1"/>
              </a:rPr>
              <a:t>http://people.cs.ubc.ca/~poole/aibook/</a:t>
            </a:r>
            <a:endParaRPr b="0" lang="en-HK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CA" sz="2800" spc="-1" strike="noStrike">
                <a:solidFill>
                  <a:srgbClr val="000000"/>
                </a:solidFill>
                <a:latin typeface="Arial Unicode MS"/>
              </a:rPr>
              <a:t> </a:t>
            </a:r>
            <a:endParaRPr b="0" lang="en-HK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CA" sz="2800" spc="-1" strike="noStrike">
                <a:solidFill>
                  <a:srgbClr val="000000"/>
                </a:solidFill>
                <a:latin typeface="Arial Unicode MS"/>
              </a:rPr>
              <a:t>Reference </a:t>
            </a:r>
            <a:r>
              <a:rPr b="1" lang="en-CA" sz="2400" spc="-1" strike="noStrike">
                <a:solidFill>
                  <a:srgbClr val="000000"/>
                </a:solidFill>
                <a:latin typeface="Arial Unicode MS"/>
              </a:rPr>
              <a:t>(if you want to buy a book in AI this is the one!)</a:t>
            </a:r>
            <a:endParaRPr b="0" lang="en-HK" sz="2400" spc="-1" strike="noStrike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CA" sz="2800" spc="-1" strike="noStrike">
                <a:solidFill>
                  <a:srgbClr val="000000"/>
                </a:solidFill>
                <a:latin typeface="Arial Unicode MS"/>
              </a:rPr>
              <a:t>Artificial Intelligence: A Modern Approach</a:t>
            </a:r>
            <a:r>
              <a:rPr b="1" lang="en-CA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 Unicode MS"/>
              </a:rPr>
              <a:t>, </a:t>
            </a:r>
            <a:r>
              <a:rPr b="0" lang="en-CA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 Unicode MS"/>
              </a:rPr>
              <a:t>4th  </a:t>
            </a:r>
            <a:r>
              <a:rPr b="0" lang="en-CA" sz="2800" spc="-1" strike="noStrike">
                <a:solidFill>
                  <a:srgbClr val="000000"/>
                </a:solidFill>
                <a:latin typeface="Arial Unicode MS"/>
              </a:rPr>
              <a:t>edition, by Russell and Norvig </a:t>
            </a:r>
            <a:r>
              <a:rPr b="0" lang="en-CA" sz="2800" spc="-1" strike="noStrike">
                <a:solidFill>
                  <a:srgbClr val="0070c0"/>
                </a:solidFill>
                <a:latin typeface="Arial Unicode MS"/>
              </a:rPr>
              <a:t>[book webpage on course webpage] </a:t>
            </a:r>
            <a:endParaRPr b="0" lang="en-HK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HK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CA" sz="2800" spc="-1" strike="noStrike">
                <a:solidFill>
                  <a:srgbClr val="000000"/>
                </a:solidFill>
                <a:latin typeface="Arial Unicode MS"/>
              </a:rPr>
              <a:t>More readings on course webpage…..</a:t>
            </a:r>
            <a:endParaRPr b="0" lang="en-HK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ftr" idx="16"/>
          </p:nvPr>
        </p:nvSpPr>
        <p:spPr>
          <a:xfrm>
            <a:off x="3159360" y="6525360"/>
            <a:ext cx="289404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17"/>
          </p:nvPr>
        </p:nvSpPr>
        <p:spPr>
          <a:xfrm>
            <a:off x="6588360" y="652536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22FC1166-0302-42A8-8A78-2D5ADFD46264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title"/>
          </p:nvPr>
        </p:nvSpPr>
        <p:spPr>
          <a:xfrm>
            <a:off x="55440" y="-17640"/>
            <a:ext cx="8533080" cy="684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Arial Unicode MS"/>
              </a:rPr>
              <a:t>Course Essentials(3)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5440" y="572760"/>
            <a:ext cx="9096480" cy="4678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Piazza :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 discussion board</a:t>
            </a:r>
            <a:endParaRPr b="0" lang="en-HK" sz="2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CA" sz="2000" spc="-1" strike="noStrike">
                <a:solidFill>
                  <a:srgbClr val="000000"/>
                </a:solidFill>
                <a:latin typeface="Times New Roman"/>
              </a:rPr>
              <a:t>Signup Link:</a:t>
            </a:r>
            <a:endParaRPr b="0" lang="en-HK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600" spc="-1" strike="noStrike">
                <a:solidFill>
                  <a:srgbClr val="30424d"/>
                </a:solidFill>
                <a:latin typeface="Helvetica Neue"/>
              </a:rPr>
              <a:t>piazza.com/ubc.ca/winterterm22020/cpsc422101</a:t>
            </a:r>
            <a:endParaRPr b="0" lang="en-HK" sz="16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Use the </a:t>
            </a:r>
            <a:r>
              <a:rPr b="1" lang="en-US" sz="2400" spc="-1" strike="noStrike">
                <a:solidFill>
                  <a:srgbClr val="c00000"/>
                </a:solidFill>
                <a:latin typeface="Arial Unicode MS"/>
              </a:rPr>
              <a:t>discussion board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for questions about assignments, material covered in lecture, etc. That way others can learn from your questions and comments!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Use </a:t>
            </a:r>
            <a:r>
              <a:rPr b="1" lang="en-US" sz="2400" spc="-1" strike="noStrike">
                <a:solidFill>
                  <a:srgbClr val="c00000"/>
                </a:solidFill>
                <a:latin typeface="Arial Unicode MS"/>
              </a:rPr>
              <a:t>email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 for private questions (e.g., grade inquiries or health problems).</a:t>
            </a:r>
            <a:endParaRPr b="0" lang="en-HK" sz="2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Canvas : 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assignments, grades, important links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iClicker Cloud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(see instructions on Canvas)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 Unicode MS"/>
              </a:rPr>
              <a:t>AIspace </a:t>
            </a:r>
            <a:r>
              <a:rPr b="0" lang="en-US" sz="2800" spc="-1" strike="noStrike">
                <a:solidFill>
                  <a:srgbClr val="000000"/>
                </a:solidFill>
                <a:latin typeface="Arial Unicode MS"/>
              </a:rPr>
              <a:t>: online tools for learning Artificial Intelligence </a:t>
            </a:r>
            <a:r>
              <a:rPr b="0" lang="en-US" sz="2800" spc="-1" strike="noStrike" u="sng">
                <a:solidFill>
                  <a:srgbClr val="808080"/>
                </a:solidFill>
                <a:uFillTx/>
                <a:latin typeface="Arial"/>
                <a:hlinkClick r:id="rId1"/>
              </a:rPr>
              <a:t>http://aispace.org/</a:t>
            </a:r>
            <a:endParaRPr b="0" lang="en-HK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Under development here at UBC!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Already used in cpsc322</a:t>
            </a:r>
            <a:endParaRPr b="0" lang="en-HK" sz="2400" spc="-1" strike="noStrike">
              <a:latin typeface="Arial"/>
            </a:endParaRPr>
          </a:p>
        </p:txBody>
      </p:sp>
      <p:pic>
        <p:nvPicPr>
          <p:cNvPr id="105" name="Picture 4" descr=""/>
          <p:cNvPicPr/>
          <p:nvPr/>
        </p:nvPicPr>
        <p:blipFill>
          <a:blip r:embed="rId2"/>
          <a:stretch/>
        </p:blipFill>
        <p:spPr>
          <a:xfrm>
            <a:off x="5922360" y="5384880"/>
            <a:ext cx="2482200" cy="915120"/>
          </a:xfrm>
          <a:prstGeom prst="rect">
            <a:avLst/>
          </a:prstGeom>
          <a:ln w="9525">
            <a:noFill/>
          </a:ln>
        </p:spPr>
      </p:pic>
      <p:sp>
        <p:nvSpPr>
          <p:cNvPr id="106" name="AutoShape 2"/>
          <p:cNvSpPr/>
          <p:nvPr/>
        </p:nvSpPr>
        <p:spPr>
          <a:xfrm>
            <a:off x="155520" y="-144360"/>
            <a:ext cx="3034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7" name="Picture 2" descr=""/>
          <p:cNvPicPr/>
          <p:nvPr/>
        </p:nvPicPr>
        <p:blipFill>
          <a:blip r:embed="rId3"/>
          <a:stretch/>
        </p:blipFill>
        <p:spPr>
          <a:xfrm>
            <a:off x="7164360" y="4264920"/>
            <a:ext cx="1633320" cy="43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ftr" idx="18"/>
          </p:nvPr>
        </p:nvSpPr>
        <p:spPr>
          <a:xfrm>
            <a:off x="3124080" y="6248520"/>
            <a:ext cx="289404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19"/>
          </p:nvPr>
        </p:nvSpPr>
        <p:spPr>
          <a:xfrm>
            <a:off x="6553080" y="624852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CC3F7C0E-6552-47C6-9D06-EC000D803368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title"/>
          </p:nvPr>
        </p:nvSpPr>
        <p:spPr>
          <a:xfrm>
            <a:off x="755640" y="-171360"/>
            <a:ext cx="777096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Arial Unicode MS"/>
              </a:rPr>
              <a:t>Course Elements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0" y="867960"/>
            <a:ext cx="8674200" cy="479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Practice Exercises: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0%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Assignments: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15%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0" i="1" lang="en-US" sz="24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 Unicode MS"/>
              </a:rPr>
              <a:t>Research Paper Questions  &amp; Summaries 10%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Midterm: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30% 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Final: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45%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Review Exam: </a:t>
            </a:r>
            <a:r>
              <a:rPr b="0" lang="en-US" sz="2400" spc="-1" strike="noStrike">
                <a:solidFill>
                  <a:srgbClr val="00b050"/>
                </a:solidFill>
                <a:latin typeface="Arial Unicode MS"/>
              </a:rPr>
              <a:t>1% bonus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Clickers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 </a:t>
            </a:r>
            <a:r>
              <a:rPr b="0" lang="en-US" sz="2400" spc="-1" strike="noStrike">
                <a:solidFill>
                  <a:srgbClr val="00b050"/>
                </a:solidFill>
                <a:latin typeface="Arial Unicode MS"/>
              </a:rPr>
              <a:t>3% bonus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(1% participation + 2% correct answers)</a:t>
            </a:r>
            <a:endParaRPr b="0" lang="en-HK" sz="2400" spc="-1" strike="noStrike">
              <a:latin typeface="Arial"/>
            </a:endParaRPr>
          </a:p>
          <a:p>
            <a:pPr marL="743040" indent="-285840">
              <a:lnSpc>
                <a:spcPct val="6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  <a:p>
            <a:pPr marL="743040" indent="-285840">
              <a:lnSpc>
                <a:spcPct val="5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If your final exam grade is &gt;= 20% higher than your midterm grade: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Midterm: 15%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Final: 60%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4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</p:txBody>
      </p:sp>
      <p:sp>
        <p:nvSpPr>
          <p:cNvPr id="112" name="Line 4"/>
          <p:cNvSpPr/>
          <p:nvPr/>
        </p:nvSpPr>
        <p:spPr>
          <a:xfrm>
            <a:off x="2555640" y="5380920"/>
            <a:ext cx="360" cy="287280"/>
          </a:xfrm>
          <a:prstGeom prst="line">
            <a:avLst/>
          </a:prstGeom>
          <a:ln w="57150">
            <a:solidFill>
              <a:srgbClr val="3333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Line 5"/>
          <p:cNvSpPr/>
          <p:nvPr/>
        </p:nvSpPr>
        <p:spPr>
          <a:xfrm flipV="1">
            <a:off x="2195640" y="5845680"/>
            <a:ext cx="360" cy="288720"/>
          </a:xfrm>
          <a:prstGeom prst="line">
            <a:avLst/>
          </a:prstGeom>
          <a:ln w="57150">
            <a:solidFill>
              <a:srgbClr val="3333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ftr" idx="20"/>
          </p:nvPr>
        </p:nvSpPr>
        <p:spPr>
          <a:xfrm>
            <a:off x="3124080" y="6248520"/>
            <a:ext cx="289404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21"/>
          </p:nvPr>
        </p:nvSpPr>
        <p:spPr>
          <a:xfrm>
            <a:off x="6553080" y="624852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846B6F3C-0634-422E-B627-11A16F3E9B3B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title"/>
          </p:nvPr>
        </p:nvSpPr>
        <p:spPr>
          <a:xfrm>
            <a:off x="-36360" y="404640"/>
            <a:ext cx="8965080" cy="684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Arial Unicode MS"/>
              </a:rPr>
              <a:t>Assignments: Late Days </a:t>
            </a:r>
            <a:r>
              <a:rPr b="1" lang="en-US" sz="3600" spc="-1" strike="noStrike">
                <a:solidFill>
                  <a:srgbClr val="ff0000"/>
                </a:solidFill>
                <a:latin typeface="Arial Unicode MS"/>
              </a:rPr>
              <a:t>(same as 322)</a:t>
            </a:r>
            <a:br>
              <a:rPr sz="3600"/>
            </a:br>
            <a:endParaRPr b="0" lang="en-HK" sz="36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250920" y="949320"/>
            <a:ext cx="8658360" cy="4494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Hand in before class on due day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(on Canvas)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You get four late days </a:t>
            </a:r>
            <a:r>
              <a:rPr b="1" lang="en-US" sz="2400" spc="-1" strike="noStrike">
                <a:solidFill>
                  <a:srgbClr val="000000"/>
                </a:solidFill>
                <a:latin typeface="Wingdings"/>
              </a:rPr>
              <a:t>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to allow you the flexibility to manage unexpected issues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additional late days will </a:t>
            </a:r>
            <a:r>
              <a:rPr b="0" lang="en-US" sz="2400" spc="-1" strike="noStrike">
                <a:solidFill>
                  <a:srgbClr val="3333cc"/>
                </a:solidFill>
                <a:latin typeface="Arial Unicode MS"/>
              </a:rPr>
              <a:t>not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  be granted except under truly exceptional circumstances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A day is defined as: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 all or part of a 24-hour block of time beginning at the start of the class on the day an assignment is due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Applicable to assignments only (</a:t>
            </a:r>
            <a:r>
              <a:rPr b="1" lang="en-US" sz="2400" spc="-1" strike="noStrike">
                <a:solidFill>
                  <a:srgbClr val="3333cc"/>
                </a:solidFill>
                <a:latin typeface="Arial Unicode MS"/>
              </a:rPr>
              <a:t>not</a:t>
            </a: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 midterm </a:t>
            </a: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or</a:t>
            </a: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 final)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 Unicode MS"/>
              </a:rPr>
              <a:t>if you've used up all your late days (or don’t claim them), </a:t>
            </a:r>
            <a:r>
              <a:rPr b="1" lang="en-US" sz="2400" spc="-1" strike="noStrike">
                <a:solidFill>
                  <a:srgbClr val="000000"/>
                </a:solidFill>
                <a:latin typeface="Arial Unicode MS"/>
              </a:rPr>
              <a:t>you lose 20% per day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c00000"/>
              </a:buClr>
              <a:buFont typeface="Symbol"/>
              <a:buChar char=""/>
            </a:pPr>
            <a:r>
              <a:rPr b="1" lang="en-US" sz="2400" spc="-1" strike="noStrike">
                <a:solidFill>
                  <a:srgbClr val="c00000"/>
                </a:solidFill>
                <a:latin typeface="Arial Unicode MS"/>
              </a:rPr>
              <a:t>Assignments will not be accepted more than four days late</a:t>
            </a:r>
            <a:endParaRPr b="0" lang="en-HK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  <a:p>
            <a:pPr marL="743040" indent="-28584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  <a:p>
            <a:pPr marL="743040" indent="-28584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ftr" idx="22"/>
          </p:nvPr>
        </p:nvSpPr>
        <p:spPr>
          <a:xfrm>
            <a:off x="3124080" y="6248520"/>
            <a:ext cx="289404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CPSC 422, Lecture 1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ldNum" idx="23"/>
          </p:nvPr>
        </p:nvSpPr>
        <p:spPr>
          <a:xfrm>
            <a:off x="6553080" y="6248520"/>
            <a:ext cx="1903680" cy="45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Unicode M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Slide </a:t>
            </a:r>
            <a:fld id="{54E23DEA-5284-42D8-9C74-20046FF75E92}" type="slidenum">
              <a:rPr b="0" lang="en-US" sz="1400" spc="-1" strike="noStrike">
                <a:solidFill>
                  <a:srgbClr val="000000"/>
                </a:solidFill>
                <a:latin typeface="Arial Unicode MS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title"/>
          </p:nvPr>
        </p:nvSpPr>
        <p:spPr>
          <a:xfrm>
            <a:off x="-297720" y="0"/>
            <a:ext cx="9738000" cy="1217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Arial Unicode MS"/>
              </a:rPr>
              <a:t>Getting Help from Other Sources? (Plagiarism)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304920" y="981000"/>
            <a:ext cx="8837640" cy="5408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When you are in doubt whether the line is crossed</a:t>
            </a: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: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Talk to me or the TA’s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See </a:t>
            </a:r>
            <a:r>
              <a:rPr b="1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UBC official regulations</a:t>
            </a: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 on what constitutes plagiarism (pointer in course Web-page)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Ignorance of the rules will not be a sufficient excuse for breaking them</a:t>
            </a:r>
            <a:endParaRPr b="0" lang="en-HK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HK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Any unjustified cases will be </a:t>
            </a:r>
            <a:r>
              <a:rPr b="1" lang="en-CA" sz="2400" spc="-1" strike="noStrike">
                <a:solidFill>
                  <a:srgbClr val="ff0000"/>
                </a:solidFill>
                <a:latin typeface="Arial Unicode MS"/>
                <a:ea typeface="Arial Unicode MS"/>
              </a:rPr>
              <a:t>severely dealt with </a:t>
            </a:r>
            <a:r>
              <a:rPr b="1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by the Dean’s Office </a:t>
            </a: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(that’s the official procedure)</a:t>
            </a:r>
            <a:endParaRPr b="0" lang="en-HK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120000"/>
              <a:buFont typeface="Symbol"/>
              <a:buChar char=""/>
              <a:tabLst>
                <a:tab algn="l" pos="0"/>
              </a:tabLst>
            </a:pP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My advice: better to skip an assignment than to have “</a:t>
            </a:r>
            <a:r>
              <a:rPr b="0" lang="en-CA" sz="2400" spc="-1" strike="noStrike">
                <a:solidFill>
                  <a:srgbClr val="3333cc"/>
                </a:solidFill>
                <a:latin typeface="Arial Unicode MS"/>
                <a:ea typeface="Arial Unicode MS"/>
              </a:rPr>
              <a:t>academic misconduct</a:t>
            </a:r>
            <a:r>
              <a:rPr b="0" lang="en-CA" sz="2400" spc="-1" strike="noStrike">
                <a:solidFill>
                  <a:srgbClr val="000000"/>
                </a:solidFill>
                <a:latin typeface="Arial Unicode MS"/>
                <a:ea typeface="Arial Unicode MS"/>
              </a:rPr>
              <a:t>” recorded on your transcript and additional penalties as serious as expulsion from the university!</a:t>
            </a:r>
            <a:endParaRPr b="0" lang="en-HK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HK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808080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808080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808080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92364</TotalTime>
  <Application>LibreOffice/7.3.7.2$Linux_X86_64 LibreOffice_project/30$Build-2</Application>
  <AppVersion>15.0000</AppVersion>
  <Words>5007</Words>
  <Paragraphs>538</Paragraphs>
  <Company>UBC Computer Sciences Department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2000-08-26T02:46:38Z</dcterms:created>
  <dc:creator>conati</dc:creator>
  <dc:description/>
  <dc:language>zh-CN</dc:language>
  <cp:lastModifiedBy/>
  <dcterms:modified xsi:type="dcterms:W3CDTF">2024-03-03T15:03:18Z</dcterms:modified>
  <cp:revision>500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24</vt:i4>
  </property>
  <property fmtid="{D5CDD505-2E9C-101B-9397-08002B2CF9AE}" pid="3" name="PresentationFormat">
    <vt:lpwstr>On-screen Show (4:3)</vt:lpwstr>
  </property>
  <property fmtid="{D5CDD505-2E9C-101B-9397-08002B2CF9AE}" pid="4" name="Slides">
    <vt:i4>30</vt:i4>
  </property>
</Properties>
</file>