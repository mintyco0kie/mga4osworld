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D1037DB-2649-479D-B72D-569F5A53ECE5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Hey, is this style double spaced or single spaced? Or is the title page single spaced??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Is primary the same as first? Use consistent language</a:t>
            </a:r>
            <a:endParaRPr b="0" lang="en-HK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Two lines single or double spaced? 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highlight>
                  <a:srgbClr val="000000"/>
                </a:highlight>
                <a:latin typeface="Arial"/>
                <a:ea typeface="Arial"/>
              </a:rPr>
              <a:t>The Multiple authors part is a little confusing</a:t>
            </a:r>
            <a:endParaRPr b="0" lang="en-HK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3A962B9-4FF0-40A4-B856-7307261C411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C3EE571-1394-4CB3-9FEC-47543ACB1EB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4EFCDB5-241B-4A0A-86D5-FEF4176B6A1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2078AC-3366-4759-92FF-ECF3A56BD010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CBAECA-E7EC-419F-8DB1-6624F3FBE34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2022E50-4423-49FC-AF07-D093711BD3E3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B8D88C8-9A0A-46D4-BCF0-DC05800D1E9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5371137-D351-42F1-84AF-497FAA45489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C19947-4DD5-40AF-BAF5-2E2738725A6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0075A7A-9E92-4174-A5A7-FDD12A794B8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5664996-FAE2-4960-A832-93F2E5A9ED3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FA48FB1-63AB-4EC9-BC85-0B57FBB944F4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5CD260-E7B4-4538-9F9A-524006B3617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2779A0-9EB1-429A-ADD4-9EC81AE3F1B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B59DE3-6CCC-4DAF-9C1B-65BBF99594CD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DB4417-2FFB-41DB-A5FA-21985A71E754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1C80AC-726F-483C-8327-74C652CD8AA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DE14AA-CFB0-432E-8AB1-114E7A4B7A2D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1A8047-D7C4-4C98-9F19-409814E746D9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EFF484-90C1-474B-995E-1F5F94E1D23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E1EC90-77E1-405D-BAB2-AE6CFBFDD293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92E196-527B-4131-ADC1-C9BCA0413B6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E4A920-9B40-4AB4-AA91-206A0CB6F01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85B0D0-C353-4955-889E-20000BCE7E08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FDDA0C-CFC8-4386-B526-1E4EF036524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86CFB-C144-47D2-8064-BC496A86ED49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FAAAC2-F3C1-400E-B371-A49C4C5488DE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C56E37-D037-4218-8187-73AA1875BEE5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8193BA-A5FD-4F11-84D7-059B3FBA7A62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75426-88BE-4839-9520-B4F2FEEDA2E9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129CE1-318F-4547-9112-1695516FCA49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C683C9-074A-4795-8D02-18AA630C6F64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C46FF-1F89-4EF2-B33B-809018AE9D3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4FF0EF-B9F4-4C89-B16D-586742E5E3BF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FA3FDE-6202-46DB-B641-34B799FF468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075F83-F3A3-4E92-BFB5-6E46B6F354DA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7804E37-EC16-48D3-8F25-D4E9749155F1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4F8A9E3-B47A-4D62-A262-570FAA71149D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A2F561D-EF30-4D02-83FA-534885A55FF9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8E1923E-FCB8-49D8-8D2F-E89A7820E570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908F381-4132-45E6-A7E9-66E80AEC92B3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ubTitle"/>
          </p:nvPr>
        </p:nvSpPr>
        <p:spPr>
          <a:xfrm>
            <a:off x="311760" y="391320"/>
            <a:ext cx="8519760" cy="28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A571303-226A-48C7-9169-F629B1109E8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7224D54-8423-453A-93EE-FF358EFD46D8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C41B02A-88CC-4908-B957-789DCD97454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1246FF3-5B0C-4EB6-B1DD-14ED7DA5335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60152F4-F4D0-4397-9EB7-3EEB274DB166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F217CF7-82F3-4281-9C57-D8F3258326EC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C5E470C-D82F-4CB6-8AFB-F772247A3E7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748960" y="748800"/>
            <a:ext cx="3645360" cy="3645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Google Shape;11;p16"/>
          <p:cNvSpPr/>
          <p:nvPr/>
        </p:nvSpPr>
        <p:spPr>
          <a:xfrm>
            <a:off x="2993040" y="992880"/>
            <a:ext cx="3157560" cy="3157560"/>
          </a:xfrm>
          <a:prstGeom prst="rect">
            <a:avLst/>
          </a:prstGeom>
          <a:noFill/>
          <a:ln w="2857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C5E2A64-4825-47F9-A5D6-A69EDD427122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76;p18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298A0F6-9741-467B-B214-ED9DEB0B0106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41;p20"/>
          <p:cNvSpPr/>
          <p:nvPr/>
        </p:nvSpPr>
        <p:spPr>
          <a:xfrm>
            <a:off x="0" y="5045760"/>
            <a:ext cx="9143280" cy="97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sldNum" idx="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2FA8D6C-A267-43B3-8A6D-C9ABAE10EAAE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000000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FE07172-5752-4807-B09A-78506A500244}" type="slidenum">
              <a:rPr b="0" lang="en" sz="1000" spc="-1" strike="noStrike">
                <a:solidFill>
                  <a:srgbClr val="000000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documents.saa.org/container/docs/default-source/doc-publications/style-guide/saa-style-guide_updated-july-2018c5062f7e55154959ab57564384bda7de.pdf?sfvrsn=8247640e_6" TargetMode="Externa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096360" y="1627200"/>
            <a:ext cx="2950560" cy="15836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fffff"/>
                </a:solidFill>
                <a:latin typeface="Lato"/>
                <a:ea typeface="Lato"/>
              </a:rPr>
              <a:t>SAA Format Guide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3096360" y="3267000"/>
            <a:ext cx="2950560" cy="70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ffffff"/>
                </a:solidFill>
                <a:latin typeface="Playfair Display"/>
                <a:ea typeface="Playfair Display"/>
              </a:rPr>
              <a:t>FHSS Writing Lab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583026E-5006-407C-A8F0-1E7BFEE1DAF0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Title Page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of work in all caps, bolded, and centered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Author(s)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words “DO NOT CITE IN ANY CONTEXT WITHOUT PERMISSION OF THE AUTHOR(S)” in all caps, unbolded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5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Authors’ affiliations, flush left, author bolded with a colon separating authors’ name and affiliation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A962885-67DA-4203-AE13-44AF401FF94C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288;p3" descr=""/>
          <p:cNvPicPr/>
          <p:nvPr/>
        </p:nvPicPr>
        <p:blipFill>
          <a:blip r:embed="rId1"/>
          <a:stretch/>
        </p:blipFill>
        <p:spPr>
          <a:xfrm>
            <a:off x="2492280" y="152280"/>
            <a:ext cx="4158720" cy="483804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74" name="Google Shape;289;p3"/>
          <p:cNvSpPr/>
          <p:nvPr/>
        </p:nvSpPr>
        <p:spPr>
          <a:xfrm>
            <a:off x="205200" y="11048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Title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5" name="Google Shape;290;p3"/>
          <p:cNvSpPr/>
          <p:nvPr/>
        </p:nvSpPr>
        <p:spPr>
          <a:xfrm>
            <a:off x="205200" y="16948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Author(s)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6" name="Google Shape;291;p3"/>
          <p:cNvSpPr/>
          <p:nvPr/>
        </p:nvSpPr>
        <p:spPr>
          <a:xfrm>
            <a:off x="205200" y="261108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These words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7" name="Google Shape;292;p3"/>
          <p:cNvSpPr/>
          <p:nvPr/>
        </p:nvSpPr>
        <p:spPr>
          <a:xfrm>
            <a:off x="205200" y="3745440"/>
            <a:ext cx="250884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Affiliation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sldNum" idx="1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3B14121-4FD0-4980-9DC2-9D33EFD8B605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Headings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First level headings should be centered, bolded, title case capitalization, and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Second level headings are flush left, italicized, title case capitalization, and with a single line of space above and below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Third level headings are part of the paragraph, with an indent, italicized, title case capitalization, and followed by a period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The text immediately follows this period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 not use “INTRODUCTION” or “ABSTRACT” as headings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References Cited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is a primary-level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B11E506-7183-4E7E-904D-943C4EA8D9AE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305;p5" descr=""/>
          <p:cNvPicPr/>
          <p:nvPr/>
        </p:nvPicPr>
        <p:blipFill>
          <a:blip r:embed="rId1"/>
          <a:stretch/>
        </p:blipFill>
        <p:spPr>
          <a:xfrm>
            <a:off x="1215720" y="397080"/>
            <a:ext cx="33030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pic>
        <p:nvPicPr>
          <p:cNvPr id="183" name="Google Shape;306;p5" descr=""/>
          <p:cNvPicPr/>
          <p:nvPr/>
        </p:nvPicPr>
        <p:blipFill>
          <a:blip r:embed="rId2"/>
          <a:stretch/>
        </p:blipFill>
        <p:spPr>
          <a:xfrm>
            <a:off x="4821480" y="397080"/>
            <a:ext cx="3601800" cy="434880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184" name="Google Shape;307;p5"/>
          <p:cNvSpPr/>
          <p:nvPr/>
        </p:nvSpPr>
        <p:spPr>
          <a:xfrm>
            <a:off x="63000" y="1643040"/>
            <a:ext cx="184392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First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5" name="Google Shape;308;p5"/>
          <p:cNvSpPr/>
          <p:nvPr/>
        </p:nvSpPr>
        <p:spPr>
          <a:xfrm flipH="1">
            <a:off x="7097760" y="9475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Second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6" name="Google Shape;309;p5"/>
          <p:cNvSpPr/>
          <p:nvPr/>
        </p:nvSpPr>
        <p:spPr>
          <a:xfrm flipH="1">
            <a:off x="7097760" y="3145320"/>
            <a:ext cx="1996560" cy="5893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295200" bIns="2952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Third level heading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D3F9D9A-5708-4C4F-A086-F3BB00D09CCA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Numbers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numbers above nine use numerals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zero through nine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any numbers at the beginning of the sentence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Spell out numbers that are used in a general sense (not an actual number)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The archeologists recovered several hundred shards.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Ordinal numbers are always spelled out (i.e. seventh cycle, eighteenth century)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3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460A510-6C70-4470-A001-EB802083DE55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Italics/Quotations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Italics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Words in languages other than primary language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Titles of books, journals, etc., when mentioned in the text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832280" y="1152360"/>
            <a:ext cx="399924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Quotation Marks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599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When using direct quotes of four lines or less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Article titles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4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21BD2C8-F299-4B4B-AFF3-C32E5204D0B5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Basic Format: (Last Name Year: page #) OR Last Name (Year: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(Larson 2020: 13) / Larson (2020: 13)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pages (Last Name Year: #-#)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(Kindt 2020: 116-137) / Kindt (2020: 116-137)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Two Authors (Last Name and Last Name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(Reese and Hilton 2019: 36) / Reese and Hilton (2019:36)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5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D9F2D5E-51C3-4D85-B5FA-BB092EC4F574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In-Text Citations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Three Authors + (Last Name et al. Year: page #)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(Cass et al. 2018: 197) / Cass and others (2018: 197) ***Do not use et al. in text***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Separate the use of multiple citations with a semicolon (;)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1752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○"/>
            </a:pPr>
            <a:r>
              <a:rPr b="0" lang="en" sz="1400" spc="-1" strike="noStrike">
                <a:solidFill>
                  <a:srgbClr val="5e696c"/>
                </a:solidFill>
                <a:latin typeface="Lato"/>
                <a:ea typeface="Lato"/>
              </a:rPr>
              <a:t>Example: (Pyper and Day 2020: 187; Nuccitelli and Judge 2020: 23</a:t>
            </a:r>
            <a:endParaRPr b="0" lang="en-HK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spcBef>
                <a:spcPts val="1001"/>
              </a:spcBef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Page numbers are unnecessary unless using a direct quote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6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0396125-ADAE-469C-A1B3-EA529C6716F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References Cited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311760" y="94608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Titled “References Cited” bolded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Alphabetized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Primary level heading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All references cited must be in the References Cited page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No unused references should be included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Double spaced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200000"/>
              </a:lnSpc>
              <a:buClr>
                <a:srgbClr val="5e696c"/>
              </a:buClr>
              <a:buFont typeface="Lato"/>
              <a:buChar char="●"/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Additional space between each citation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7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1B5DB03-CBED-4FB8-B34D-224076F90147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Book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. Publisher, Publication Place.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2020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The Effects on Education on Gender.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Barnacle Press, Denver, Colorado.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Multiple Authors: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 Zack, and Angela Stout, (and First Name Last Name)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(only the first author is last name, first name. Every other is first name last name)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8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3A4E217-0DCA-44DA-AD9D-75A56E665939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Online Journal Article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Journal Title in Italics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 volume#(issue#): ##-##. DOI:0000000000, accessed date.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2018 Disney and Gender. </a:t>
            </a:r>
            <a:r>
              <a:rPr b="0" i="1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Family 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45(6): 33-42. DOI:000000, accessed July 26, 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9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5B3D178-E53E-454F-BC5D-A95AB47F2F7C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Web Pages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66628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Format: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Last Name, First Name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Year Title of Site. Electronic document, URL, accessed date month, day, year.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Example: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Cusworth, Zack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2017 Information on IEP. Electronic document,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http://www.thisdoesnotmatter.com/987987987987098, accessed April 15, 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	</a:t>
            </a:r>
            <a:r>
              <a:rPr b="0" lang="en" sz="1800" spc="-1" strike="noStrike">
                <a:solidFill>
                  <a:srgbClr val="5e696c"/>
                </a:solidFill>
                <a:latin typeface="Lato"/>
                <a:ea typeface="Lato"/>
              </a:rPr>
              <a:t>2019.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20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C691165-BD60-4ADB-9069-E5BC59619166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72;p14"/>
          <p:cNvSpPr/>
          <p:nvPr/>
        </p:nvSpPr>
        <p:spPr>
          <a:xfrm>
            <a:off x="128880" y="109404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Book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4" name="Google Shape;373;p14"/>
          <p:cNvSpPr/>
          <p:nvPr/>
        </p:nvSpPr>
        <p:spPr>
          <a:xfrm>
            <a:off x="128880" y="197496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Journal Article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215" name="Google Shape;374;p14"/>
          <p:cNvSpPr/>
          <p:nvPr/>
        </p:nvSpPr>
        <p:spPr>
          <a:xfrm>
            <a:off x="128880" y="3061080"/>
            <a:ext cx="1534680" cy="39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5e696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97280" bIns="19728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Lato"/>
                <a:ea typeface="Lato"/>
              </a:rPr>
              <a:t>Website</a:t>
            </a:r>
            <a:endParaRPr b="0" lang="en-HK" sz="1400" spc="-1" strike="noStrike">
              <a:latin typeface="Arial"/>
            </a:endParaRPr>
          </a:p>
        </p:txBody>
      </p:sp>
      <p:pic>
        <p:nvPicPr>
          <p:cNvPr id="216" name="Google Shape;375;p14" descr=""/>
          <p:cNvPicPr/>
          <p:nvPr/>
        </p:nvPicPr>
        <p:blipFill>
          <a:blip r:embed="rId1"/>
          <a:stretch/>
        </p:blipFill>
        <p:spPr>
          <a:xfrm>
            <a:off x="1722960" y="451800"/>
            <a:ext cx="5697360" cy="4239360"/>
          </a:xfrm>
          <a:prstGeom prst="rect">
            <a:avLst/>
          </a:prstGeom>
          <a:ln w="9525">
            <a:solidFill>
              <a:srgbClr val="5e696c"/>
            </a:solidFill>
            <a:round/>
          </a:ln>
        </p:spPr>
      </p:pic>
      <p:sp>
        <p:nvSpPr>
          <p:cNvPr id="217" name="PlaceHolder 1"/>
          <p:cNvSpPr>
            <a:spLocks noGrp="1"/>
          </p:cNvSpPr>
          <p:nvPr>
            <p:ph type="sldNum" idx="21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1D23562-75C3-41B7-AD4E-501944667E61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11760" y="391320"/>
            <a:ext cx="8519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200" spc="-1" strike="noStrike">
                <a:solidFill>
                  <a:srgbClr val="f55e61"/>
                </a:solidFill>
                <a:latin typeface="Playfair Display"/>
                <a:ea typeface="Playfair Display"/>
              </a:rPr>
              <a:t>Questions? Go here</a:t>
            </a:r>
            <a:endParaRPr b="0" lang="en-HK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 u="sng">
                <a:solidFill>
                  <a:srgbClr val="af4345"/>
                </a:solidFill>
                <a:uFillTx/>
                <a:latin typeface="Arial"/>
                <a:ea typeface="Arial"/>
                <a:hlinkClick r:id="rId1"/>
              </a:rPr>
              <a:t>Editorial Policy,</a:t>
            </a:r>
            <a:endParaRPr b="0" lang="en-HK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8490240" y="4681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3f3f3"/>
                </a:solidFill>
                <a:latin typeface="Lato"/>
                <a:ea typeface="La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3F726CB-F31A-4B46-AAC8-36D265361542}" type="slidenum">
              <a:rPr b="0" lang="en" sz="1000" spc="-1" strike="noStrike">
                <a:solidFill>
                  <a:srgbClr val="f3f3f3"/>
                </a:solidFill>
                <a:latin typeface="Lato"/>
                <a:ea typeface="Lato"/>
              </a:rPr>
              <a:t>&lt;number&gt;</a:t>
            </a:fld>
            <a:endParaRPr b="0" lang="en-HK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Mallory Kindt</dc:creator>
  <dc:description/>
  <dc:language>en-HK</dc:language>
  <cp:lastModifiedBy/>
  <dcterms:modified xsi:type="dcterms:W3CDTF">2025-03-06T17:44:44Z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