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9.jpeg" ContentType="image/jpeg"/>
  <Override PartName="/ppt/media/image11.jpeg" ContentType="image/jpeg"/>
  <Override PartName="/ppt/media/image13.jpeg" ContentType="image/jpeg"/>
  <Override PartName="/ppt/media/image8.jpeg" ContentType="image/jpeg"/>
  <Override PartName="/ppt/media/image10.jpeg" ContentType="image/jpeg"/>
  <Override PartName="/ppt/media/image12.jpeg" ContentType="image/jpeg"/>
  <Override PartName="/ppt/media/image19.jpeg" ContentType="image/jpeg"/>
  <Override PartName="/ppt/media/image1.jpeg" ContentType="image/jpeg"/>
  <Override PartName="/ppt/media/image18.jpeg" ContentType="image/jpeg"/>
  <Override PartName="/ppt/media/image17.jpeg" ContentType="image/jpeg"/>
  <Override PartName="/ppt/media/image16.jpeg" ContentType="image/jpeg"/>
  <Override PartName="/ppt/media/image15.jpeg" ContentType="image/jpeg"/>
  <Override PartName="/ppt/media/image14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A141DC1-34EA-4162-ACA9-518F94FF06E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57FCB3B-D580-48A9-8574-8BB34EE5077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7D5D8E5-E825-49D9-91DB-2CB40A27D3D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8E555B3-3D5A-4A4D-9F2C-3815B3882E8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62FB75B-033F-4DA6-B2E7-54F60356B03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61A81DE-F20E-4805-AEC9-3370EACD865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D821078-30CA-4566-8A0B-C371EFB3E18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4EEA0BF-674A-4A60-95D0-3BF28EF943A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A1B0090-555A-4392-AF32-7EE0D310CEA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A6A8238-ECD0-418B-A135-AFA5562E719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5E3B746-EEC0-4C3D-A5EA-ABB73D9B1DA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7282597-F63C-4726-B947-093209ABEE0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2A11DF7-FC1A-4743-A0EB-4EF8E55413F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7644F18-C810-4DDA-8E9F-5F47C89B38A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387DF55-74BD-4A17-8071-92A9E150279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1D54269-B9AA-4DD5-86F7-CAEBEF45F0A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1C68FC7-9FC5-4BC3-9B36-6FDE3F315F7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D4C2EB7-E063-489E-B075-759316131BC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DCEFFFF-9743-48EB-965E-237857B2A2B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1071E47-24F8-48CE-BF06-856E2054023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4E636B6-36FC-4A5A-8383-6C0F0640562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DBB4006-5302-4E50-91EA-F6444EEBE3B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C08EFF0-5C8D-4131-B20B-B1268248C98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2BCB524-C38F-4B68-A9C7-CA49F9D314A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HK" sz="1800" spc="-1" strike="noStrike">
                <a:latin typeface="Arial"/>
              </a:rPr>
              <a:t>Click to edit the title text format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257EEE5-8308-4020-AE2C-0BA7FAB22F89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851F0A2-D94D-4F1A-A46B-5BB925A261C9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image" Target="../media/image10.jpeg"/><Relationship Id="rId3" Type="http://schemas.openxmlformats.org/officeDocument/2006/relationships/image" Target="../media/image11.jpeg"/><Relationship Id="rId4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3" descr="screenmain.jpg"/>
          <p:cNvPicPr/>
          <p:nvPr/>
        </p:nvPicPr>
        <p:blipFill>
          <a:blip r:embed="rId1"/>
          <a:stretch/>
        </p:blipFill>
        <p:spPr>
          <a:xfrm>
            <a:off x="-22680" y="-10800"/>
            <a:ext cx="9165960" cy="6903000"/>
          </a:xfrm>
          <a:prstGeom prst="rect">
            <a:avLst/>
          </a:prstGeom>
          <a:ln w="0">
            <a:noFill/>
          </a:ln>
        </p:spPr>
      </p:pic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85800" y="32860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The Secrets You Need To Know About Monetizing Video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84" name="TextBox 4"/>
          <p:cNvSpPr/>
          <p:nvPr/>
        </p:nvSpPr>
        <p:spPr>
          <a:xfrm>
            <a:off x="0" y="6523920"/>
            <a:ext cx="914328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Sandy Allnock • December 2, 2016</a:t>
            </a:r>
            <a:endParaRPr b="0" lang="en-HK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HK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Picture 3" descr="screenmain.jpg"/>
          <p:cNvPicPr/>
          <p:nvPr/>
        </p:nvPicPr>
        <p:blipFill>
          <a:blip r:embed="rId1"/>
          <a:stretch/>
        </p:blipFill>
        <p:spPr>
          <a:xfrm>
            <a:off x="-22680" y="-10800"/>
            <a:ext cx="9165960" cy="6903000"/>
          </a:xfrm>
          <a:prstGeom prst="rect">
            <a:avLst/>
          </a:prstGeom>
          <a:ln w="0">
            <a:noFill/>
          </a:ln>
        </p:spPr>
      </p:pic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685800" y="293904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How to go viral with video.</a:t>
            </a:r>
            <a:br>
              <a:rPr sz="4400"/>
            </a:b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(Not.)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87" name="TextBox 4"/>
          <p:cNvSpPr/>
          <p:nvPr/>
        </p:nvSpPr>
        <p:spPr>
          <a:xfrm>
            <a:off x="0" y="6523920"/>
            <a:ext cx="914328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Sandy Allnock • December 2, 2016</a:t>
            </a:r>
            <a:endParaRPr b="0" lang="en-HK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HK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Picture 3" descr="catshark.jpg"/>
          <p:cNvPicPr/>
          <p:nvPr/>
        </p:nvPicPr>
        <p:blipFill>
          <a:blip r:embed="rId1"/>
          <a:stretch/>
        </p:blipFill>
        <p:spPr>
          <a:xfrm>
            <a:off x="0" y="0"/>
            <a:ext cx="9143280" cy="6857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10" descr="TMslidebkd2.jpg"/>
          <p:cNvPicPr/>
          <p:nvPr/>
        </p:nvPicPr>
        <p:blipFill>
          <a:blip r:embed="rId1"/>
          <a:stretch/>
        </p:blipFill>
        <p:spPr>
          <a:xfrm>
            <a:off x="0" y="0"/>
            <a:ext cx="9143280" cy="6857280"/>
          </a:xfrm>
          <a:prstGeom prst="rect">
            <a:avLst/>
          </a:prstGeom>
          <a:ln w="0">
            <a:noFill/>
          </a:ln>
        </p:spPr>
      </p:pic>
      <p:sp>
        <p:nvSpPr>
          <p:cNvPr id="90" name="TextBox 12"/>
          <p:cNvSpPr/>
          <p:nvPr/>
        </p:nvSpPr>
        <p:spPr>
          <a:xfrm>
            <a:off x="174240" y="184680"/>
            <a:ext cx="7977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MISCONCEPTIONS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91" name="TextBox 13"/>
          <p:cNvSpPr/>
          <p:nvPr/>
        </p:nvSpPr>
        <p:spPr>
          <a:xfrm>
            <a:off x="1085040" y="1318320"/>
            <a:ext cx="7241040" cy="20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514440" indent="-51444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Coming up with content and shooting it is really really hard.</a:t>
            </a:r>
            <a:br>
              <a:rPr sz="3200"/>
            </a:b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b="0" lang="en-HK" sz="3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92" name="Rectangle 14"/>
          <p:cNvSpPr/>
          <p:nvPr/>
        </p:nvSpPr>
        <p:spPr>
          <a:xfrm>
            <a:off x="1732320" y="3026160"/>
            <a:ext cx="5952240" cy="55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3" name="Rectangle 15"/>
          <p:cNvSpPr/>
          <p:nvPr/>
        </p:nvSpPr>
        <p:spPr>
          <a:xfrm>
            <a:off x="1765080" y="4298760"/>
            <a:ext cx="5539680" cy="55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TextBox 6"/>
          <p:cNvSpPr/>
          <p:nvPr/>
        </p:nvSpPr>
        <p:spPr>
          <a:xfrm>
            <a:off x="0" y="6589080"/>
            <a:ext cx="91432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Sandy Allnock • December 2, 2016</a:t>
            </a:r>
            <a:endParaRPr b="0" lang="en-HK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HK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endCondLst>
                                    <p:cond delay="0" evt="begin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endCondLst>
                                    <p:cond delay="0" evt="begin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Picture 10" descr="TMslidebkd2.jpg"/>
          <p:cNvPicPr/>
          <p:nvPr/>
        </p:nvPicPr>
        <p:blipFill>
          <a:blip r:embed="rId1"/>
          <a:stretch/>
        </p:blipFill>
        <p:spPr>
          <a:xfrm>
            <a:off x="0" y="0"/>
            <a:ext cx="9143280" cy="6857280"/>
          </a:xfrm>
          <a:prstGeom prst="rect">
            <a:avLst/>
          </a:prstGeom>
          <a:ln w="0">
            <a:noFill/>
          </a:ln>
        </p:spPr>
      </p:pic>
      <p:sp>
        <p:nvSpPr>
          <p:cNvPr id="96" name="TextBox 12"/>
          <p:cNvSpPr/>
          <p:nvPr/>
        </p:nvSpPr>
        <p:spPr>
          <a:xfrm>
            <a:off x="174240" y="184680"/>
            <a:ext cx="7977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MISCONCEPTIONS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97" name="TextBox 13"/>
          <p:cNvSpPr/>
          <p:nvPr/>
        </p:nvSpPr>
        <p:spPr>
          <a:xfrm>
            <a:off x="1085040" y="1318320"/>
            <a:ext cx="7241040" cy="30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514440" indent="-51444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CONTENT &amp; QUALITY</a:t>
            </a:r>
            <a:br>
              <a:rPr sz="3200"/>
            </a:b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b="0" lang="en-HK" sz="32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When I upload a video, it goes viral </a:t>
            </a:r>
            <a:br>
              <a:rPr sz="3200"/>
            </a:b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and YouTube sends big checks.</a:t>
            </a:r>
            <a:br>
              <a:rPr sz="3200"/>
            </a:b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b="0" lang="en-HK" sz="3200" spc="-1" strike="noStrike">
              <a:latin typeface="Arial"/>
            </a:endParaRPr>
          </a:p>
        </p:txBody>
      </p:sp>
      <p:sp>
        <p:nvSpPr>
          <p:cNvPr id="98" name="Rectangle 14"/>
          <p:cNvSpPr/>
          <p:nvPr/>
        </p:nvSpPr>
        <p:spPr>
          <a:xfrm>
            <a:off x="1732320" y="3026160"/>
            <a:ext cx="5952240" cy="55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Rectangle 15"/>
          <p:cNvSpPr/>
          <p:nvPr/>
        </p:nvSpPr>
        <p:spPr>
          <a:xfrm>
            <a:off x="1765080" y="4298760"/>
            <a:ext cx="5539680" cy="55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TextBox 6"/>
          <p:cNvSpPr/>
          <p:nvPr/>
        </p:nvSpPr>
        <p:spPr>
          <a:xfrm>
            <a:off x="0" y="6589080"/>
            <a:ext cx="91432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Sandy Allnock • December 2, 2016</a:t>
            </a:r>
            <a:endParaRPr b="0" lang="en-HK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HK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Picture 10" descr="TMslidebkd2.jpg"/>
          <p:cNvPicPr/>
          <p:nvPr/>
        </p:nvPicPr>
        <p:blipFill>
          <a:blip r:embed="rId1"/>
          <a:stretch/>
        </p:blipFill>
        <p:spPr>
          <a:xfrm>
            <a:off x="0" y="0"/>
            <a:ext cx="9143280" cy="6857280"/>
          </a:xfrm>
          <a:prstGeom prst="rect">
            <a:avLst/>
          </a:prstGeom>
          <a:ln w="0">
            <a:noFill/>
          </a:ln>
        </p:spPr>
      </p:pic>
      <p:sp>
        <p:nvSpPr>
          <p:cNvPr id="102" name="TextBox 12"/>
          <p:cNvSpPr/>
          <p:nvPr/>
        </p:nvSpPr>
        <p:spPr>
          <a:xfrm>
            <a:off x="174240" y="184680"/>
            <a:ext cx="7977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MISCONCEPTIONS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03" name="TextBox 13"/>
          <p:cNvSpPr/>
          <p:nvPr/>
        </p:nvSpPr>
        <p:spPr>
          <a:xfrm>
            <a:off x="1085040" y="1318320"/>
            <a:ext cx="7241040" cy="350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514440" indent="-51444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CONTENT &amp; QUALITY</a:t>
            </a:r>
            <a:br>
              <a:rPr sz="3200"/>
            </a:b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b="0" lang="en-HK" sz="32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MONETIZATION</a:t>
            </a:r>
            <a:br>
              <a:rPr sz="3200"/>
            </a:b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b="0" lang="en-HK" sz="32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Live formats are cheapest, so they’re the best place to start.</a:t>
            </a:r>
            <a:endParaRPr b="0" lang="en-HK" sz="3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104" name="Rectangle 14"/>
          <p:cNvSpPr/>
          <p:nvPr/>
        </p:nvSpPr>
        <p:spPr>
          <a:xfrm>
            <a:off x="1732320" y="3026160"/>
            <a:ext cx="5952240" cy="55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Rectangle 15"/>
          <p:cNvSpPr/>
          <p:nvPr/>
        </p:nvSpPr>
        <p:spPr>
          <a:xfrm>
            <a:off x="1765080" y="4298760"/>
            <a:ext cx="5539680" cy="55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TextBox 6"/>
          <p:cNvSpPr/>
          <p:nvPr/>
        </p:nvSpPr>
        <p:spPr>
          <a:xfrm>
            <a:off x="0" y="6589080"/>
            <a:ext cx="91432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Sandy Allnock • December 2, 2016</a:t>
            </a:r>
            <a:endParaRPr b="0" lang="en-HK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HK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Picture 10" descr="TMslidebkd2.jpg"/>
          <p:cNvPicPr/>
          <p:nvPr/>
        </p:nvPicPr>
        <p:blipFill>
          <a:blip r:embed="rId1"/>
          <a:stretch/>
        </p:blipFill>
        <p:spPr>
          <a:xfrm>
            <a:off x="0" y="0"/>
            <a:ext cx="9143280" cy="6857280"/>
          </a:xfrm>
          <a:prstGeom prst="rect">
            <a:avLst/>
          </a:prstGeom>
          <a:ln w="0">
            <a:noFill/>
          </a:ln>
        </p:spPr>
      </p:pic>
      <p:sp>
        <p:nvSpPr>
          <p:cNvPr id="108" name="TextBox 12"/>
          <p:cNvSpPr/>
          <p:nvPr/>
        </p:nvSpPr>
        <p:spPr>
          <a:xfrm>
            <a:off x="174240" y="184680"/>
            <a:ext cx="7977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MISCONCEPTIONS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09" name="TextBox 13"/>
          <p:cNvSpPr/>
          <p:nvPr/>
        </p:nvSpPr>
        <p:spPr>
          <a:xfrm>
            <a:off x="1085040" y="1318320"/>
            <a:ext cx="7241040" cy="252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514440" indent="-51444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CONTENT &amp; QUALITY</a:t>
            </a:r>
            <a:br>
              <a:rPr sz="3200"/>
            </a:b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b="0" lang="en-HK" sz="32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MONETIZATION</a:t>
            </a:r>
            <a:br>
              <a:rPr sz="3200"/>
            </a:b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b="0" lang="en-HK" sz="32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PLATFORM</a:t>
            </a:r>
            <a:endParaRPr b="0" lang="en-HK" sz="3200" spc="-1" strike="noStrike">
              <a:latin typeface="Arial"/>
            </a:endParaRPr>
          </a:p>
        </p:txBody>
      </p:sp>
      <p:sp>
        <p:nvSpPr>
          <p:cNvPr id="110" name="Rectangle 14"/>
          <p:cNvSpPr/>
          <p:nvPr/>
        </p:nvSpPr>
        <p:spPr>
          <a:xfrm>
            <a:off x="1732320" y="3026160"/>
            <a:ext cx="5952240" cy="55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Rectangle 15"/>
          <p:cNvSpPr/>
          <p:nvPr/>
        </p:nvSpPr>
        <p:spPr>
          <a:xfrm>
            <a:off x="1765080" y="4298760"/>
            <a:ext cx="5539680" cy="55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TextBox 6"/>
          <p:cNvSpPr/>
          <p:nvPr/>
        </p:nvSpPr>
        <p:spPr>
          <a:xfrm>
            <a:off x="0" y="6589080"/>
            <a:ext cx="91432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Sandy Allnock • December 2, 2016</a:t>
            </a:r>
            <a:endParaRPr b="0" lang="en-HK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HK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Picture 10" descr="TMslidebkd2.jpg"/>
          <p:cNvPicPr/>
          <p:nvPr/>
        </p:nvPicPr>
        <p:blipFill>
          <a:blip r:embed="rId1"/>
          <a:stretch/>
        </p:blipFill>
        <p:spPr>
          <a:xfrm>
            <a:off x="0" y="0"/>
            <a:ext cx="9143280" cy="6857280"/>
          </a:xfrm>
          <a:prstGeom prst="rect">
            <a:avLst/>
          </a:prstGeom>
          <a:ln w="0">
            <a:noFill/>
          </a:ln>
        </p:spPr>
      </p:pic>
      <p:sp>
        <p:nvSpPr>
          <p:cNvPr id="114" name="TextBox 11"/>
          <p:cNvSpPr/>
          <p:nvPr/>
        </p:nvSpPr>
        <p:spPr>
          <a:xfrm>
            <a:off x="781560" y="935640"/>
            <a:ext cx="7977600" cy="901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Content is KING.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Encourages engagement</a:t>
            </a:r>
            <a:endParaRPr b="0" lang="en-HK" sz="30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Generates leads/sales</a:t>
            </a:r>
            <a:endParaRPr b="0" lang="en-HK" sz="30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Adds value to product/service</a:t>
            </a:r>
            <a:endParaRPr b="0" lang="en-HK" sz="30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Establishes authenticity</a:t>
            </a:r>
            <a:endParaRPr b="0" lang="en-HK" sz="30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 u="sng">
                <a:solidFill>
                  <a:srgbClr val="000000"/>
                </a:solidFill>
                <a:uFillTx/>
                <a:latin typeface="Calibri"/>
                <a:ea typeface="DejaVu Sans"/>
              </a:rPr>
              <a:t>Ample </a:t>
            </a: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content increases traffic</a:t>
            </a:r>
            <a:endParaRPr b="0" lang="en-HK" sz="30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Quality </a:t>
            </a:r>
            <a:r>
              <a:rPr b="0" i="1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may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be negotiable.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Record on non-professional devices.</a:t>
            </a:r>
            <a:endParaRPr b="0" lang="en-HK" sz="30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“</a:t>
            </a: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Guidelines” can be trumped by content.</a:t>
            </a:r>
            <a:endParaRPr b="0" lang="en-HK" sz="30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Quality reflects your brand.</a:t>
            </a:r>
            <a:endParaRPr b="0" lang="en-HK" sz="30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0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0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115" name="TextBox 3"/>
          <p:cNvSpPr/>
          <p:nvPr/>
        </p:nvSpPr>
        <p:spPr>
          <a:xfrm>
            <a:off x="174240" y="184680"/>
            <a:ext cx="7977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CONTENT AND QUALITY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16" name="TextBox 4"/>
          <p:cNvSpPr/>
          <p:nvPr/>
        </p:nvSpPr>
        <p:spPr>
          <a:xfrm>
            <a:off x="0" y="6589080"/>
            <a:ext cx="91432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Sandy Allnock • December 2, 2016</a:t>
            </a:r>
            <a:endParaRPr b="0" lang="en-HK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HK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" dur="indefinite" restart="never" nodeType="tmRoot">
          <p:childTnLst>
            <p:seq>
              <p:cTn id="16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Picture 10" descr="TMslidebkd2.jpg"/>
          <p:cNvPicPr/>
          <p:nvPr/>
        </p:nvPicPr>
        <p:blipFill>
          <a:blip r:embed="rId1"/>
          <a:stretch/>
        </p:blipFill>
        <p:spPr>
          <a:xfrm>
            <a:off x="0" y="0"/>
            <a:ext cx="9143280" cy="6857280"/>
          </a:xfrm>
          <a:prstGeom prst="rect">
            <a:avLst/>
          </a:prstGeom>
          <a:ln w="0">
            <a:noFill/>
          </a:ln>
        </p:spPr>
      </p:pic>
      <p:pic>
        <p:nvPicPr>
          <p:cNvPr id="118" name="Picture 4" descr="darren1.jpg"/>
          <p:cNvPicPr/>
          <p:nvPr/>
        </p:nvPicPr>
        <p:blipFill>
          <a:blip r:embed="rId2"/>
          <a:stretch/>
        </p:blipFill>
        <p:spPr>
          <a:xfrm>
            <a:off x="4738320" y="970560"/>
            <a:ext cx="4177080" cy="3199680"/>
          </a:xfrm>
          <a:prstGeom prst="rect">
            <a:avLst/>
          </a:prstGeom>
          <a:ln w="0">
            <a:noFill/>
          </a:ln>
        </p:spPr>
      </p:pic>
      <p:sp>
        <p:nvSpPr>
          <p:cNvPr id="119" name="TextBox 5"/>
          <p:cNvSpPr/>
          <p:nvPr/>
        </p:nvSpPr>
        <p:spPr>
          <a:xfrm>
            <a:off x="503280" y="4342320"/>
            <a:ext cx="8411760" cy="344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Close-up, hands on videos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Talking-head videos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3 videos/week – MWF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3-5 videos at a time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59k subs • 4.3 million views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10k subs • 2.6 million views 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583 videos, 10-12 minutes each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1,277 videos, 1-3 minutes each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Avg 3k-5k views, several 100k+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Avg &lt;200 views, several 200k+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HK" sz="2000" spc="-1" strike="noStrike">
              <a:latin typeface="Arial"/>
            </a:endParaRPr>
          </a:p>
        </p:txBody>
      </p:sp>
      <p:pic>
        <p:nvPicPr>
          <p:cNvPr id="120" name="Picture 7" descr="sandy1.jpg"/>
          <p:cNvPicPr/>
          <p:nvPr/>
        </p:nvPicPr>
        <p:blipFill>
          <a:blip r:embed="rId3"/>
          <a:stretch/>
        </p:blipFill>
        <p:spPr>
          <a:xfrm>
            <a:off x="503280" y="970560"/>
            <a:ext cx="4182120" cy="3199680"/>
          </a:xfrm>
          <a:prstGeom prst="rect">
            <a:avLst/>
          </a:prstGeom>
          <a:ln w="0">
            <a:noFill/>
          </a:ln>
        </p:spPr>
      </p:pic>
      <p:sp>
        <p:nvSpPr>
          <p:cNvPr id="121" name="TextBox 8"/>
          <p:cNvSpPr/>
          <p:nvPr/>
        </p:nvSpPr>
        <p:spPr>
          <a:xfrm>
            <a:off x="174240" y="184680"/>
            <a:ext cx="7977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CONTENT AND QUALITY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22" name="TextBox 9"/>
          <p:cNvSpPr/>
          <p:nvPr/>
        </p:nvSpPr>
        <p:spPr>
          <a:xfrm>
            <a:off x="0" y="6589080"/>
            <a:ext cx="91432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Sandy Allnock • December 2, 2016</a:t>
            </a:r>
            <a:endParaRPr b="0" lang="en-HK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HK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7" dur="indefinite" restart="never" nodeType="tmRoot">
          <p:childTnLst>
            <p:seq>
              <p:cTn id="58" dur="indefinite" nodeType="mainSeq">
                <p:childTnLst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Picture 10" descr="TMslidebkd2.jpg"/>
          <p:cNvPicPr/>
          <p:nvPr/>
        </p:nvPicPr>
        <p:blipFill>
          <a:blip r:embed="rId1"/>
          <a:stretch/>
        </p:blipFill>
        <p:spPr>
          <a:xfrm>
            <a:off x="0" y="0"/>
            <a:ext cx="9143280" cy="6857280"/>
          </a:xfrm>
          <a:prstGeom prst="rect">
            <a:avLst/>
          </a:prstGeom>
          <a:ln w="0">
            <a:noFill/>
          </a:ln>
        </p:spPr>
      </p:pic>
      <p:sp>
        <p:nvSpPr>
          <p:cNvPr id="124" name="TextBox 11"/>
          <p:cNvSpPr/>
          <p:nvPr/>
        </p:nvSpPr>
        <p:spPr>
          <a:xfrm>
            <a:off x="977040" y="1563120"/>
            <a:ext cx="7977600" cy="770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Making money with video alone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Ads – pre-, mid-, post-roll </a:t>
            </a:r>
            <a:endParaRPr b="0" lang="en-HK" sz="30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Sponsored videos</a:t>
            </a:r>
            <a:endParaRPr b="0" lang="en-HK" sz="30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Product placement</a:t>
            </a:r>
            <a:endParaRPr b="0" lang="en-HK" sz="3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0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  <a:ea typeface="DejaVu Sans"/>
              </a:rPr>
              <a:t>Instead…think </a:t>
            </a:r>
            <a:r>
              <a:rPr b="0" lang="en-US" sz="6000" spc="-1" strike="noStrike">
                <a:solidFill>
                  <a:srgbClr val="000000"/>
                </a:solidFill>
                <a:latin typeface="Calibri"/>
                <a:ea typeface="DejaVu Sans"/>
              </a:rPr>
              <a:t>bigger</a:t>
            </a:r>
            <a:r>
              <a:rPr b="0" lang="en-US" sz="3600" spc="-1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HK" sz="36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125" name="TextBox 3"/>
          <p:cNvSpPr/>
          <p:nvPr/>
        </p:nvSpPr>
        <p:spPr>
          <a:xfrm>
            <a:off x="174240" y="184680"/>
            <a:ext cx="7977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MONETIZATION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26" name="TextBox 4"/>
          <p:cNvSpPr/>
          <p:nvPr/>
        </p:nvSpPr>
        <p:spPr>
          <a:xfrm>
            <a:off x="0" y="6589080"/>
            <a:ext cx="91432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Sandy Allnock • December 2, 2016</a:t>
            </a:r>
            <a:endParaRPr b="0" lang="en-HK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HK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9" dur="indefinite" restart="never" nodeType="tmRoot">
          <p:childTnLst>
            <p:seq>
              <p:cTn id="80" dur="indefinite" nodeType="mainSeq">
                <p:childTnLst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Picture 10" descr="TMslidebkd2.jpg"/>
          <p:cNvPicPr/>
          <p:nvPr/>
        </p:nvPicPr>
        <p:blipFill>
          <a:blip r:embed="rId1"/>
          <a:stretch/>
        </p:blipFill>
        <p:spPr>
          <a:xfrm>
            <a:off x="0" y="0"/>
            <a:ext cx="9143280" cy="6857280"/>
          </a:xfrm>
          <a:prstGeom prst="rect">
            <a:avLst/>
          </a:prstGeom>
          <a:ln w="0">
            <a:noFill/>
          </a:ln>
        </p:spPr>
      </p:pic>
      <p:sp>
        <p:nvSpPr>
          <p:cNvPr id="128" name="TextBox 11"/>
          <p:cNvSpPr/>
          <p:nvPr/>
        </p:nvSpPr>
        <p:spPr>
          <a:xfrm>
            <a:off x="781560" y="935640"/>
            <a:ext cx="7977600" cy="100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Video monetization strategy should match your existing business strategy.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Promote </a:t>
            </a:r>
            <a:r>
              <a:rPr b="1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existing </a:t>
            </a: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monetized goods/services (products, online classes, affiliate marketing,  in-person seminars, books, etc.)</a:t>
            </a:r>
            <a:endParaRPr b="0" lang="en-HK" sz="3000" spc="-1" strike="noStrike">
              <a:latin typeface="Arial"/>
            </a:endParaRPr>
          </a:p>
          <a:p>
            <a:pPr lvl="1" marL="971640" indent="-5144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drive traffic, aid in conversion </a:t>
            </a:r>
            <a:endParaRPr b="0" lang="en-HK" sz="3000" spc="-1" strike="noStrike">
              <a:latin typeface="Arial"/>
            </a:endParaRPr>
          </a:p>
          <a:p>
            <a:pPr lvl="1" marL="971640" indent="-5144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add value for customers</a:t>
            </a:r>
            <a:endParaRPr b="0" lang="en-HK" sz="30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Add </a:t>
            </a:r>
            <a:r>
              <a:rPr b="1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video products </a:t>
            </a: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as well, if appropriate.</a:t>
            </a:r>
            <a:endParaRPr b="0" lang="en-HK" sz="3000" spc="-1" strike="noStrike">
              <a:latin typeface="Arial"/>
            </a:endParaRPr>
          </a:p>
          <a:p>
            <a:pPr lvl="1" marL="971640" indent="-5144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classes, webinars, etc.</a:t>
            </a:r>
            <a:endParaRPr b="0" lang="en-HK" sz="3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129" name="TextBox 3"/>
          <p:cNvSpPr/>
          <p:nvPr/>
        </p:nvSpPr>
        <p:spPr>
          <a:xfrm>
            <a:off x="174240" y="184680"/>
            <a:ext cx="7977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MONETIZATION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30" name="TextBox 4"/>
          <p:cNvSpPr/>
          <p:nvPr/>
        </p:nvSpPr>
        <p:spPr>
          <a:xfrm>
            <a:off x="0" y="6589080"/>
            <a:ext cx="91432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Sandy Allnock • December 2, 2016</a:t>
            </a:r>
            <a:endParaRPr b="0" lang="en-HK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HK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1" dur="indefinite" restart="never" nodeType="tmRoot">
          <p:childTnLst>
            <p:seq>
              <p:cTn id="102" dur="indefinite" nodeType="mainSeq">
                <p:childTnLst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Picture 10" descr="TMslidebkd2.jpg"/>
          <p:cNvPicPr/>
          <p:nvPr/>
        </p:nvPicPr>
        <p:blipFill>
          <a:blip r:embed="rId1"/>
          <a:stretch/>
        </p:blipFill>
        <p:spPr>
          <a:xfrm>
            <a:off x="0" y="0"/>
            <a:ext cx="9143280" cy="6857280"/>
          </a:xfrm>
          <a:prstGeom prst="rect">
            <a:avLst/>
          </a:prstGeom>
          <a:ln w="0">
            <a:noFill/>
          </a:ln>
        </p:spPr>
      </p:pic>
      <p:sp>
        <p:nvSpPr>
          <p:cNvPr id="132" name="TextBox 11"/>
          <p:cNvSpPr/>
          <p:nvPr/>
        </p:nvSpPr>
        <p:spPr>
          <a:xfrm>
            <a:off x="781560" y="935640"/>
            <a:ext cx="797760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Which Platform?</a:t>
            </a:r>
            <a:endParaRPr b="0" lang="en-HK" sz="3200" spc="-1" strike="noStrike">
              <a:latin typeface="Arial"/>
            </a:endParaRPr>
          </a:p>
        </p:txBody>
      </p:sp>
      <p:sp>
        <p:nvSpPr>
          <p:cNvPr id="133" name="TextBox 3"/>
          <p:cNvSpPr/>
          <p:nvPr/>
        </p:nvSpPr>
        <p:spPr>
          <a:xfrm>
            <a:off x="174240" y="184680"/>
            <a:ext cx="7977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PLATFORM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34" name="TextBox 4"/>
          <p:cNvSpPr/>
          <p:nvPr/>
        </p:nvSpPr>
        <p:spPr>
          <a:xfrm>
            <a:off x="781560" y="1520640"/>
            <a:ext cx="7977600" cy="69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RECORDED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LIVE</a:t>
            </a:r>
            <a:endParaRPr b="0" lang="en-HK" sz="28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YouTube, Vimeo, etc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Periscope, FbLive, etc     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endParaRPr b="0" lang="en-HK" sz="28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Higher quality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Lower quality</a:t>
            </a:r>
            <a:endParaRPr b="0" lang="en-HK" sz="28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Ongoing interaction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Instant interaction</a:t>
            </a:r>
            <a:endParaRPr b="0" lang="en-HK" sz="28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Clear traffic drivers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Complex traffic drivers</a:t>
            </a:r>
            <a:endParaRPr b="0" lang="en-HK" sz="28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Searchable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Not discoverable  </a:t>
            </a:r>
            <a:endParaRPr b="0" lang="en-HK" sz="28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Evergreen content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Fleeting content</a:t>
            </a:r>
            <a:endParaRPr b="0" lang="en-HK" sz="28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Can become contrived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Seen as authentic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endParaRPr b="0" lang="en-HK" sz="28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2800" spc="-1" strike="noStrike">
              <a:latin typeface="Arial"/>
            </a:endParaRPr>
          </a:p>
        </p:txBody>
      </p:sp>
      <p:sp>
        <p:nvSpPr>
          <p:cNvPr id="135" name="TextBox 6"/>
          <p:cNvSpPr/>
          <p:nvPr/>
        </p:nvSpPr>
        <p:spPr>
          <a:xfrm>
            <a:off x="781560" y="5468400"/>
            <a:ext cx="797760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514440" indent="-5144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Research: Where is my audience?</a:t>
            </a:r>
            <a:endParaRPr b="0" lang="en-HK" sz="3000" spc="-1" strike="noStrike">
              <a:latin typeface="Arial"/>
            </a:endParaRPr>
          </a:p>
        </p:txBody>
      </p:sp>
      <p:sp>
        <p:nvSpPr>
          <p:cNvPr id="136" name="TextBox 7"/>
          <p:cNvSpPr/>
          <p:nvPr/>
        </p:nvSpPr>
        <p:spPr>
          <a:xfrm>
            <a:off x="0" y="6578280"/>
            <a:ext cx="91432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Sandy Allnock • December 2, 2016</a:t>
            </a:r>
            <a:endParaRPr b="0" lang="en-HK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HK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7" dur="indefinite" restart="never" nodeType="tmRoot">
          <p:childTnLst>
            <p:seq>
              <p:cTn id="128" dur="indefinite" nodeType="mainSeq">
                <p:childTnLst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Picture 10" descr="TMslidebkd2.jpg"/>
          <p:cNvPicPr/>
          <p:nvPr/>
        </p:nvPicPr>
        <p:blipFill>
          <a:blip r:embed="rId1"/>
          <a:stretch/>
        </p:blipFill>
        <p:spPr>
          <a:xfrm>
            <a:off x="0" y="0"/>
            <a:ext cx="9143280" cy="6857280"/>
          </a:xfrm>
          <a:prstGeom prst="rect">
            <a:avLst/>
          </a:prstGeom>
          <a:ln w="0">
            <a:noFill/>
          </a:ln>
        </p:spPr>
      </p:pic>
      <p:sp>
        <p:nvSpPr>
          <p:cNvPr id="138" name="TextBox 3"/>
          <p:cNvSpPr/>
          <p:nvPr/>
        </p:nvSpPr>
        <p:spPr>
          <a:xfrm>
            <a:off x="174240" y="184680"/>
            <a:ext cx="7977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EXAMPLES: ONLINE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39" name="TextBox 6"/>
          <p:cNvSpPr/>
          <p:nvPr/>
        </p:nvSpPr>
        <p:spPr>
          <a:xfrm>
            <a:off x="933840" y="1280880"/>
            <a:ext cx="7370280" cy="30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Sandy Allnock: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$ Plan: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Products, Classes, Affiliate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Rec: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Art tutorials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Live: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Related tutorials, BTS, Q&amp;A</a:t>
            </a:r>
            <a:endParaRPr b="0" lang="en-HK" sz="3200" spc="-1" strike="noStrike">
              <a:latin typeface="Arial"/>
            </a:endParaRPr>
          </a:p>
        </p:txBody>
      </p:sp>
      <p:sp>
        <p:nvSpPr>
          <p:cNvPr id="140" name="TextBox 4"/>
          <p:cNvSpPr/>
          <p:nvPr/>
        </p:nvSpPr>
        <p:spPr>
          <a:xfrm>
            <a:off x="933840" y="3755880"/>
            <a:ext cx="7836120" cy="252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Darren LaCroix: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$ Plan: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Classes, Speaking, Products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Rec: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Speaking tips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Live: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Q&amp;A</a:t>
            </a:r>
            <a:endParaRPr b="0" lang="en-HK" sz="3200" spc="-1" strike="noStrike">
              <a:latin typeface="Arial"/>
            </a:endParaRPr>
          </a:p>
        </p:txBody>
      </p:sp>
      <p:sp>
        <p:nvSpPr>
          <p:cNvPr id="141" name="TextBox 7"/>
          <p:cNvSpPr/>
          <p:nvPr/>
        </p:nvSpPr>
        <p:spPr>
          <a:xfrm>
            <a:off x="0" y="6589080"/>
            <a:ext cx="91432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Sandy Allnock • December 2, 2016</a:t>
            </a:r>
            <a:endParaRPr b="0" lang="en-HK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HK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65" dur="indefinite" restart="never" nodeType="tmRoot">
          <p:childTnLst>
            <p:seq>
              <p:cTn id="166" dur="indefinite" nodeType="mainSeq">
                <p:childTnLst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Picture 10" descr="TMslidebkd2.jpg"/>
          <p:cNvPicPr/>
          <p:nvPr/>
        </p:nvPicPr>
        <p:blipFill>
          <a:blip r:embed="rId1"/>
          <a:stretch/>
        </p:blipFill>
        <p:spPr>
          <a:xfrm>
            <a:off x="0" y="0"/>
            <a:ext cx="9143280" cy="6857280"/>
          </a:xfrm>
          <a:prstGeom prst="rect">
            <a:avLst/>
          </a:prstGeom>
          <a:ln w="0">
            <a:noFill/>
          </a:ln>
        </p:spPr>
      </p:pic>
      <p:sp>
        <p:nvSpPr>
          <p:cNvPr id="143" name="TextBox 3"/>
          <p:cNvSpPr/>
          <p:nvPr/>
        </p:nvSpPr>
        <p:spPr>
          <a:xfrm>
            <a:off x="174240" y="184680"/>
            <a:ext cx="7977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EXAMPLES: BRICK AND MORTAR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44" name="TextBox 6"/>
          <p:cNvSpPr/>
          <p:nvPr/>
        </p:nvSpPr>
        <p:spPr>
          <a:xfrm>
            <a:off x="933840" y="1280880"/>
            <a:ext cx="7370280" cy="252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Book Store: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$ Plan: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In-store product sales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Rec: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Interviews with authors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Live: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Broadcast poetry readings</a:t>
            </a:r>
            <a:endParaRPr b="0" lang="en-HK" sz="3200" spc="-1" strike="noStrike">
              <a:latin typeface="Arial"/>
            </a:endParaRPr>
          </a:p>
        </p:txBody>
      </p:sp>
      <p:sp>
        <p:nvSpPr>
          <p:cNvPr id="145" name="TextBox 4"/>
          <p:cNvSpPr/>
          <p:nvPr/>
        </p:nvSpPr>
        <p:spPr>
          <a:xfrm>
            <a:off x="933840" y="3755880"/>
            <a:ext cx="7836120" cy="252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Hair Salon: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$ Plan: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Clients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Rec: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How to style hair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Live: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Techniques – before/mid/after</a:t>
            </a:r>
            <a:endParaRPr b="0" lang="en-HK" sz="3200" spc="-1" strike="noStrike">
              <a:latin typeface="Arial"/>
            </a:endParaRPr>
          </a:p>
        </p:txBody>
      </p:sp>
      <p:sp>
        <p:nvSpPr>
          <p:cNvPr id="146" name="TextBox 7"/>
          <p:cNvSpPr/>
          <p:nvPr/>
        </p:nvSpPr>
        <p:spPr>
          <a:xfrm>
            <a:off x="0" y="6589080"/>
            <a:ext cx="91432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Sandy Allnock • December 2, 2016</a:t>
            </a:r>
            <a:endParaRPr b="0" lang="en-HK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HK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9" dur="indefinite" restart="never" nodeType="tmRoot">
          <p:childTnLst>
            <p:seq>
              <p:cTn id="200" dur="indefinite" nodeType="mainSeq">
                <p:childTnLst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Picture 10" descr="TMslidebkd2.jpg"/>
          <p:cNvPicPr/>
          <p:nvPr/>
        </p:nvPicPr>
        <p:blipFill>
          <a:blip r:embed="rId1"/>
          <a:stretch/>
        </p:blipFill>
        <p:spPr>
          <a:xfrm>
            <a:off x="0" y="0"/>
            <a:ext cx="9143280" cy="6857280"/>
          </a:xfrm>
          <a:prstGeom prst="rect">
            <a:avLst/>
          </a:prstGeom>
          <a:ln w="0">
            <a:noFill/>
          </a:ln>
        </p:spPr>
      </p:pic>
      <p:sp>
        <p:nvSpPr>
          <p:cNvPr id="148" name="TextBox 3"/>
          <p:cNvSpPr/>
          <p:nvPr/>
        </p:nvSpPr>
        <p:spPr>
          <a:xfrm>
            <a:off x="174240" y="184680"/>
            <a:ext cx="7977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EXAMPLES: SERVICES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49" name="TextBox 6"/>
          <p:cNvSpPr/>
          <p:nvPr/>
        </p:nvSpPr>
        <p:spPr>
          <a:xfrm>
            <a:off x="933840" y="1280880"/>
            <a:ext cx="7370280" cy="252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Business Coach: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$ Plan: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Coaching sessions, classes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Rec: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Staffing tips 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Live: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Motivational chats</a:t>
            </a:r>
            <a:endParaRPr b="0" lang="en-HK" sz="3200" spc="-1" strike="noStrike">
              <a:latin typeface="Arial"/>
            </a:endParaRPr>
          </a:p>
        </p:txBody>
      </p:sp>
      <p:sp>
        <p:nvSpPr>
          <p:cNvPr id="150" name="TextBox 4"/>
          <p:cNvSpPr/>
          <p:nvPr/>
        </p:nvSpPr>
        <p:spPr>
          <a:xfrm>
            <a:off x="933840" y="3755880"/>
            <a:ext cx="7836120" cy="20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Realtor: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$ Plan: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Selling hoeuses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Rec: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Tips on selling a home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Live: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Currently available homes</a:t>
            </a:r>
            <a:endParaRPr b="0" lang="en-HK" sz="3200" spc="-1" strike="noStrike">
              <a:latin typeface="Arial"/>
            </a:endParaRPr>
          </a:p>
        </p:txBody>
      </p:sp>
      <p:sp>
        <p:nvSpPr>
          <p:cNvPr id="151" name="TextBox 5"/>
          <p:cNvSpPr/>
          <p:nvPr/>
        </p:nvSpPr>
        <p:spPr>
          <a:xfrm>
            <a:off x="0" y="6589080"/>
            <a:ext cx="91432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Sandy Allnock • December 2, 2016</a:t>
            </a:r>
            <a:endParaRPr b="0" lang="en-HK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HK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33" dur="indefinite" restart="never" nodeType="tmRoot">
          <p:childTnLst>
            <p:seq>
              <p:cTn id="234" dur="indefinite" nodeType="mainSeq">
                <p:childTnLst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Picture 10" descr="TMslidebkd2.jpg"/>
          <p:cNvPicPr/>
          <p:nvPr/>
        </p:nvPicPr>
        <p:blipFill>
          <a:blip r:embed="rId1"/>
          <a:stretch/>
        </p:blipFill>
        <p:spPr>
          <a:xfrm>
            <a:off x="0" y="0"/>
            <a:ext cx="9143280" cy="6857280"/>
          </a:xfrm>
          <a:prstGeom prst="rect">
            <a:avLst/>
          </a:prstGeom>
          <a:ln w="0">
            <a:noFill/>
          </a:ln>
        </p:spPr>
      </p:pic>
      <p:sp>
        <p:nvSpPr>
          <p:cNvPr id="153" name="TextBox 3"/>
          <p:cNvSpPr/>
          <p:nvPr/>
        </p:nvSpPr>
        <p:spPr>
          <a:xfrm>
            <a:off x="174240" y="184680"/>
            <a:ext cx="7977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BRAINSTORM YOUR PLAN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54" name="TextBox 6"/>
          <p:cNvSpPr/>
          <p:nvPr/>
        </p:nvSpPr>
        <p:spPr>
          <a:xfrm>
            <a:off x="972000" y="1920960"/>
            <a:ext cx="7652160" cy="50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The 3 Best Questions to Start a Plan:</a:t>
            </a:r>
            <a:endParaRPr b="0" lang="en-HK" sz="3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HK" sz="32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What questions do </a:t>
            </a:r>
            <a:r>
              <a:rPr b="0" lang="en-US" sz="2800" spc="-1" strike="noStrike" u="sng">
                <a:solidFill>
                  <a:srgbClr val="000000"/>
                </a:solidFill>
                <a:uFillTx/>
                <a:latin typeface="Calibri"/>
                <a:ea typeface="DejaVu Sans"/>
              </a:rPr>
              <a:t>my customers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ask most?</a:t>
            </a:r>
            <a:endParaRPr b="0" lang="en-HK" sz="28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What aspect am I </a:t>
            </a:r>
            <a:r>
              <a:rPr b="0" lang="en-US" sz="2800" spc="-1" strike="noStrike" u="sng">
                <a:solidFill>
                  <a:srgbClr val="000000"/>
                </a:solidFill>
                <a:uFillTx/>
                <a:latin typeface="Calibri"/>
                <a:ea typeface="DejaVu Sans"/>
              </a:rPr>
              <a:t>most passionate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about?</a:t>
            </a:r>
            <a:endParaRPr b="0" lang="en-HK" sz="28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What can I commit to </a:t>
            </a:r>
            <a:r>
              <a:rPr b="0" lang="en-US" sz="2800" spc="-1" strike="noStrike" u="sng">
                <a:solidFill>
                  <a:srgbClr val="000000"/>
                </a:solidFill>
                <a:uFillTx/>
                <a:latin typeface="Calibri"/>
                <a:ea typeface="DejaVu Sans"/>
              </a:rPr>
              <a:t>this quarter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?</a:t>
            </a:r>
            <a:endParaRPr b="0" lang="en-HK" sz="28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28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155" name="TextBox 5"/>
          <p:cNvSpPr/>
          <p:nvPr/>
        </p:nvSpPr>
        <p:spPr>
          <a:xfrm>
            <a:off x="0" y="6589080"/>
            <a:ext cx="91432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Sandy Allnock • December 2, 2016</a:t>
            </a:r>
            <a:endParaRPr b="0" lang="en-HK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HK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67" dur="indefinite" restart="never" nodeType="tmRoot">
          <p:childTnLst>
            <p:seq>
              <p:cTn id="268" dur="indefinite" nodeType="mainSeq">
                <p:childTnLst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Picture 10" descr="TMslidebkd2.jpg"/>
          <p:cNvPicPr/>
          <p:nvPr/>
        </p:nvPicPr>
        <p:blipFill>
          <a:blip r:embed="rId1"/>
          <a:stretch/>
        </p:blipFill>
        <p:spPr>
          <a:xfrm>
            <a:off x="0" y="0"/>
            <a:ext cx="9143280" cy="6857280"/>
          </a:xfrm>
          <a:prstGeom prst="rect">
            <a:avLst/>
          </a:prstGeom>
          <a:ln w="0">
            <a:noFill/>
          </a:ln>
        </p:spPr>
      </p:pic>
      <p:sp>
        <p:nvSpPr>
          <p:cNvPr id="157" name="TextBox 11"/>
          <p:cNvSpPr/>
          <p:nvPr/>
        </p:nvSpPr>
        <p:spPr>
          <a:xfrm>
            <a:off x="0" y="2366640"/>
            <a:ext cx="9143280" cy="243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sandyallnock.com/wakeup4wealth</a:t>
            </a:r>
            <a:endParaRPr b="0" lang="en-HK" sz="4400" spc="-1" strike="noStrike">
              <a:latin typeface="Arial"/>
            </a:endParaRPr>
          </a:p>
          <a:p>
            <a:pPr marL="457200" indent="-45720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6600" spc="-1" strike="noStrike">
                <a:solidFill>
                  <a:srgbClr val="000000"/>
                </a:solidFill>
                <a:latin typeface="Calibri"/>
                <a:ea typeface="DejaVu Sans"/>
              </a:rPr>
              <a:t>Q&amp;A</a:t>
            </a:r>
            <a:endParaRPr b="0" lang="en-HK" sz="6600" spc="-1" strike="noStrike">
              <a:latin typeface="Arial"/>
            </a:endParaRPr>
          </a:p>
        </p:txBody>
      </p:sp>
      <p:sp>
        <p:nvSpPr>
          <p:cNvPr id="158" name="TextBox 6"/>
          <p:cNvSpPr/>
          <p:nvPr/>
        </p:nvSpPr>
        <p:spPr>
          <a:xfrm>
            <a:off x="0" y="6589080"/>
            <a:ext cx="91432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Sandy Allnock • December 2, 2016</a:t>
            </a:r>
            <a:endParaRPr b="0" lang="en-HK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HK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1589</TotalTime>
  <Application>LibreOffice/7.3.7.2$Linux_X86_64 LibreOffice_project/30$Build-2</Application>
  <AppVersion>15.0000</AppVersion>
  <Words>710</Words>
  <Paragraphs>129</Paragraphs>
  <Company>Operation Write Home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2016-12-02T00:37:13Z</dcterms:created>
  <dc:creator>Sandy Allnock</dc:creator>
  <dc:description/>
  <dc:language>en-HK</dc:language>
  <cp:lastModifiedBy>Sandy Allnock</cp:lastModifiedBy>
  <dcterms:modified xsi:type="dcterms:W3CDTF">2016-12-02T00:38:42Z</dcterms:modified>
  <cp:revision>14</cp:revision>
  <dc:subject/>
  <dc:title>Video and you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Slides">
    <vt:i4>17</vt:i4>
  </property>
</Properties>
</file>