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989CA8C-1EAE-4364-B42A-0036273BF0A5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Easy to have students make their own: draw one larger circle in the middle, then lines to connecting ideas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can do this as we go through the presentation; main idea = graphic organizers, related concepts are the various types of graphic organizers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Tip to focus information, try to  develop your topic sentences for each paragraph as a part of the outline instead of just a bulleted word/topic. 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*Exact content depends on the journal you’ve selected, i.e. OS vs discipline-specific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the sequence information to their concept map graphic organizer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One example: pictures for lower levels, area to write for higher levels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story map information to graphic organizer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Discuss various parts of the story: character, setting, plot, conflict, resolution, falling action/end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Pictures or words can be used by students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this information to their concept map graphic organizer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F53DAA-098A-4306-A1DC-15B5D3F792B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54CE6DB-6952-4107-9991-17D95770770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10B77CE-4C3A-49FC-AC67-F8E732A5AB6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C91306D-27D1-482E-9750-E6A85410C8F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D476822-5AD3-4700-880E-8EAE4C25E0B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7EB4CC2-F69E-4644-A9E6-92B5A5D33B2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E35F636-E573-42CF-9C37-49F3A1119BF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20EF9C5-3D4B-4095-AEF9-8D644ACC54F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48717CE-229F-4484-BC2D-309CFC75D35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2AE3BE9-6936-4821-9A46-A83907B68AE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DB13EAF-5657-4CD9-9226-A27E5FFBD351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58359CC-8C1C-4C8E-8812-EE6D101379E8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B20C13-8862-4D04-A493-470E650AEA6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70632B-829A-4068-A7BE-477D9A6F9B93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1815BC-F3ED-4E75-B434-50A409B4AE54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E32035-2F2B-4229-A09F-6776CC97D6DD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239B10-F713-46EC-96AD-52F32DB0BA2A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CEA52D-9328-4451-960B-D5C7A53B15A4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ACC15D-2C13-4DBA-BB63-71D1A6437D2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3E7F68-2DBD-483F-84E3-2EB84961E2AA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2930F0-D82C-4224-ADA8-58E74997A24D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DFA1E5-653A-4B42-A29E-6DF1F62D2AC3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6AFB5C-F2C3-4427-AEC0-4EF185A281DF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016750-502C-4569-A0B0-152606C4B6A9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BF11C48-0497-4D95-A267-654691ADCD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6C7C4DE-91F8-40A0-A049-038A8A4EAA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EC97248-7F76-42B1-8341-25134B63F8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E6207E3-6C2F-41AD-B078-DDC909ED6B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FC8D85E-8ADC-42E0-884A-4AD68CA5A9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BAB3544-4EB1-4211-B6B1-5CD2887634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B95B892-4FAF-4400-8E38-6C0304D12D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B00C785-5C8A-463E-B8FC-C099A84F97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2228D78-3E79-4847-B357-7247CBD186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4F6B12A-D204-40E7-8595-B08E231096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5F11059-D5F5-4DDC-BF49-184292937B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763CF41-8EEA-491A-8814-DEDE28BA1E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61DC99-2490-4B91-865B-E1640E5252F7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319ACA-9D7E-4C46-B68B-343F1C03DC69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0B7934-21E1-4260-9F74-E3207B9F5CD2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D0FDCF-DE20-43C0-80D3-249AB74736CC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B4FA0A-6C5C-4D07-83AB-07E4C808E3E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A7161D-A26D-4A91-903F-060392AE41C8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1A36B2-50A8-460D-B75E-82133FA9AFDD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B59B0D-1928-4DCC-BE3B-B9318466FD03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98E629-7601-4806-841E-39D7CB15DC14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C43AED-46AC-493B-89BE-2E0618E92F50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84C1F1-1094-433C-B25C-3EF62F72780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428E54-903C-45CB-9D4C-2A26F05EB8AA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E447434-C5A9-4E5E-8F65-6FC105CAAD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6A0E8C-12EF-42C4-8452-631B1B9C6C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3EAB8D-A531-46B1-BC5C-7630F88486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B42DBA4-E48B-4752-A925-D2DB452472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086ECEC-2BD3-4852-A725-F0E76F21AB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C02E246-8153-4252-8682-DC4F1AE28C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565AD7-0736-4258-95D9-F2E57360E7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7B63F4-7E97-4644-B4C0-0D9D4C6F1E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43DF2E1-7B44-4842-8E9B-BF3461756F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D7D1ED5-3C29-4498-A7FC-33C37FDD3C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522715E-5F4E-4CB3-B1CD-0C205D4F45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7A3536A-4AB4-4584-B06C-DB16D60B2E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11"/>
          <p:cNvGrpSpPr/>
          <p:nvPr/>
        </p:nvGrpSpPr>
        <p:grpSpPr>
          <a:xfrm>
            <a:off x="6100920" y="0"/>
            <a:ext cx="3043080" cy="2030400"/>
            <a:chOff x="6100920" y="0"/>
            <a:chExt cx="3043080" cy="2030400"/>
          </a:xfrm>
        </p:grpSpPr>
        <p:sp>
          <p:nvSpPr>
            <p:cNvPr id="1" name="Google Shape;11;p11"/>
            <p:cNvSpPr/>
            <p:nvPr/>
          </p:nvSpPr>
          <p:spPr>
            <a:xfrm>
              <a:off x="8128800" y="0"/>
              <a:ext cx="1012680" cy="1012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2;p11"/>
            <p:cNvSpPr/>
            <p:nvPr/>
          </p:nvSpPr>
          <p:spPr>
            <a:xfrm flipH="1">
              <a:off x="7110720" y="0"/>
              <a:ext cx="1012680" cy="1012680"/>
            </a:xfrm>
            <a:prstGeom prst="rtTriangl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13;p11"/>
            <p:cNvSpPr/>
            <p:nvPr/>
          </p:nvSpPr>
          <p:spPr>
            <a:xfrm flipH="1" rot="10800000">
              <a:off x="7113240" y="25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4;p11"/>
            <p:cNvSpPr/>
            <p:nvPr/>
          </p:nvSpPr>
          <p:spPr>
            <a:xfrm rot="10800000">
              <a:off x="6100920" y="2520"/>
              <a:ext cx="1012680" cy="101268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Google Shape;15;p11"/>
            <p:cNvSpPr/>
            <p:nvPr/>
          </p:nvSpPr>
          <p:spPr>
            <a:xfrm rot="10800000">
              <a:off x="8131320" y="10177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0D6B7FF-4263-42C2-A630-2E2D255B5719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0;p13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1;p13"/>
          <p:cNvSpPr/>
          <p:nvPr/>
        </p:nvSpPr>
        <p:spPr>
          <a:xfrm>
            <a:off x="5029560" y="4495680"/>
            <a:ext cx="465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sldNum" idx="2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994D87C-8C26-4B4C-BC60-27CB228ABFD3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46;p15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7;p15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3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1C0929E1-6869-4993-A400-FFDB1ED14F32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HK" sz="18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38;p17"/>
          <p:cNvGrpSpPr/>
          <p:nvPr/>
        </p:nvGrpSpPr>
        <p:grpSpPr>
          <a:xfrm>
            <a:off x="0" y="3903840"/>
            <a:ext cx="9144000" cy="1237320"/>
            <a:chOff x="0" y="3903840"/>
            <a:chExt cx="9144000" cy="1237320"/>
          </a:xfrm>
        </p:grpSpPr>
        <p:sp>
          <p:nvSpPr>
            <p:cNvPr id="130" name="Google Shape;239;p17"/>
            <p:cNvSpPr/>
            <p:nvPr/>
          </p:nvSpPr>
          <p:spPr>
            <a:xfrm>
              <a:off x="81547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240;p17"/>
            <p:cNvSpPr/>
            <p:nvPr/>
          </p:nvSpPr>
          <p:spPr>
            <a:xfrm flipH="1">
              <a:off x="61783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241;p17"/>
            <p:cNvSpPr/>
            <p:nvPr/>
          </p:nvSpPr>
          <p:spPr>
            <a:xfrm>
              <a:off x="7170120" y="3903840"/>
              <a:ext cx="986760" cy="9853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242;p17"/>
            <p:cNvSpPr/>
            <p:nvPr/>
          </p:nvSpPr>
          <p:spPr>
            <a:xfrm rot="10800000">
              <a:off x="8157240" y="3906360"/>
              <a:ext cx="986760" cy="985320"/>
            </a:xfrm>
            <a:prstGeom prst="rtTriangl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243;p17"/>
            <p:cNvSpPr/>
            <p:nvPr/>
          </p:nvSpPr>
          <p:spPr>
            <a:xfrm>
              <a:off x="0" y="4891680"/>
              <a:ext cx="9141480" cy="2494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PlaceHolder 1"/>
          <p:cNvSpPr>
            <a:spLocks noGrp="1"/>
          </p:cNvSpPr>
          <p:nvPr>
            <p:ph type="sldNum" idx="6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B3BA903-E48E-4A68-B184-627670BE43B0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308;p19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309;p19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7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8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22285E3-7496-461B-96E0-15EA4E0C8A39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HK" sz="1800" spc="-1" strike="noStrike"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dt" idx="9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97960" y="1775160"/>
            <a:ext cx="821952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ffffff"/>
                </a:solidFill>
                <a:latin typeface="Roboto"/>
                <a:ea typeface="Roboto"/>
              </a:rPr>
              <a:t>How to Write an Outline</a:t>
            </a:r>
            <a:endParaRPr b="0" lang="en-HK" sz="42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597960" y="2715840"/>
            <a:ext cx="821952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ffffff"/>
                </a:solidFill>
                <a:latin typeface="Roboto"/>
                <a:ea typeface="Roboto"/>
              </a:rPr>
              <a:t>URI Graduate Writing Center, Spring 2021</a:t>
            </a:r>
            <a:endParaRPr b="0" lang="en-HK" sz="2100" spc="-1" strike="noStrike">
              <a:latin typeface="Arial"/>
            </a:endParaRPr>
          </a:p>
        </p:txBody>
      </p:sp>
      <p:pic>
        <p:nvPicPr>
          <p:cNvPr id="226" name="Google Shape;406;p1" descr=""/>
          <p:cNvPicPr/>
          <p:nvPr/>
        </p:nvPicPr>
        <p:blipFill>
          <a:blip r:embed="rId1"/>
          <a:srcRect l="23145" t="15779" r="24678" b="9781"/>
          <a:stretch/>
        </p:blipFill>
        <p:spPr>
          <a:xfrm>
            <a:off x="7125840" y="2481480"/>
            <a:ext cx="1449720" cy="2321640"/>
          </a:xfrm>
          <a:prstGeom prst="rect">
            <a:avLst/>
          </a:prstGeom>
          <a:ln w="0">
            <a:noFill/>
          </a:ln>
        </p:spPr>
      </p:pic>
      <p:sp>
        <p:nvSpPr>
          <p:cNvPr id="227" name="Google Shape;407;p1"/>
          <p:cNvSpPr/>
          <p:nvPr/>
        </p:nvSpPr>
        <p:spPr>
          <a:xfrm>
            <a:off x="357120" y="1448280"/>
            <a:ext cx="6238800" cy="2031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Google Shape;408;p1"/>
          <p:cNvSpPr/>
          <p:nvPr/>
        </p:nvSpPr>
        <p:spPr>
          <a:xfrm flipH="1">
            <a:off x="6595920" y="2579760"/>
            <a:ext cx="1440" cy="35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2a39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Google Shape;409;p1"/>
          <p:cNvSpPr/>
          <p:nvPr/>
        </p:nvSpPr>
        <p:spPr>
          <a:xfrm>
            <a:off x="6598080" y="2571840"/>
            <a:ext cx="698760" cy="519120"/>
          </a:xfrm>
          <a:custGeom>
            <a:avLst/>
            <a:gdLst/>
            <a:ahLst/>
            <a:rect l="l" t="t" r="r" b="b"/>
            <a:pathLst>
              <a:path w="27977" h="21952">
                <a:moveTo>
                  <a:pt x="431" y="0"/>
                </a:moveTo>
                <a:lnTo>
                  <a:pt x="27977" y="21952"/>
                </a:lnTo>
                <a:lnTo>
                  <a:pt x="0" y="15495"/>
                </a:lnTo>
              </a:path>
            </a:pathLst>
          </a:cu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65680" y="1576080"/>
            <a:ext cx="4042800" cy="198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Why should you prepare an outline?</a:t>
            </a:r>
            <a:endParaRPr b="0" lang="en-HK" sz="4200" spc="-1" strike="noStrike">
              <a:latin typeface="Arial"/>
            </a:endParaRPr>
          </a:p>
        </p:txBody>
      </p:sp>
      <p:sp>
        <p:nvSpPr>
          <p:cNvPr id="231" name="Google Shape;415;p2"/>
          <p:cNvSpPr/>
          <p:nvPr/>
        </p:nvSpPr>
        <p:spPr>
          <a:xfrm>
            <a:off x="6133320" y="2082600"/>
            <a:ext cx="1320840" cy="1318320"/>
          </a:xfrm>
          <a:prstGeom prst="ellipse">
            <a:avLst/>
          </a:prstGeom>
          <a:solidFill>
            <a:srgbClr val="f4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rgbClr val="9c254d"/>
                </a:solidFill>
                <a:latin typeface="Arial"/>
                <a:ea typeface="Arial"/>
              </a:rPr>
              <a:t>?</a:t>
            </a:r>
            <a:endParaRPr b="0" lang="en-HK" sz="3000" spc="-1" strike="noStrike">
              <a:latin typeface="Arial"/>
            </a:endParaRPr>
          </a:p>
        </p:txBody>
      </p:sp>
      <p:grpSp>
        <p:nvGrpSpPr>
          <p:cNvPr id="232" name="Google Shape;416;p2"/>
          <p:cNvGrpSpPr/>
          <p:nvPr/>
        </p:nvGrpSpPr>
        <p:grpSpPr>
          <a:xfrm>
            <a:off x="6416640" y="1719360"/>
            <a:ext cx="2954880" cy="3294720"/>
            <a:chOff x="6416640" y="1719360"/>
            <a:chExt cx="2954880" cy="3294720"/>
          </a:xfrm>
        </p:grpSpPr>
        <p:sp>
          <p:nvSpPr>
            <p:cNvPr id="233" name="Google Shape;417;p2"/>
            <p:cNvSpPr/>
            <p:nvPr/>
          </p:nvSpPr>
          <p:spPr>
            <a:xfrm rot="18319800">
              <a:off x="6367320" y="2761920"/>
              <a:ext cx="3181680" cy="1209240"/>
            </a:xfrm>
            <a:custGeom>
              <a:avLst/>
              <a:gdLst/>
              <a:ahLst/>
              <a:rect l="l" t="t" r="r" b="b"/>
              <a:pathLst>
                <a:path w="492" h="187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418;p2"/>
            <p:cNvSpPr/>
            <p:nvPr/>
          </p:nvSpPr>
          <p:spPr>
            <a:xfrm rot="18319800">
              <a:off x="6332040" y="2658600"/>
              <a:ext cx="2727000" cy="1202760"/>
            </a:xfrm>
            <a:custGeom>
              <a:avLst/>
              <a:gdLst/>
              <a:ahLst/>
              <a:rect l="l" t="t" r="r" b="b"/>
              <a:pathLst>
                <a:path w="440" h="194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e1165a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Google Shape;419;p2"/>
            <p:cNvSpPr/>
            <p:nvPr/>
          </p:nvSpPr>
          <p:spPr>
            <a:xfrm rot="17820600">
              <a:off x="6964200" y="3062160"/>
              <a:ext cx="1575360" cy="56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Follow Genre Structure</a:t>
              </a:r>
              <a:r>
                <a:rPr b="0" lang="en" sz="10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 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236" name="Google Shape;420;p2"/>
          <p:cNvGrpSpPr/>
          <p:nvPr/>
        </p:nvGrpSpPr>
        <p:grpSpPr>
          <a:xfrm>
            <a:off x="5089320" y="127440"/>
            <a:ext cx="3290040" cy="3219480"/>
            <a:chOff x="5089320" y="127440"/>
            <a:chExt cx="3290040" cy="3219480"/>
          </a:xfrm>
        </p:grpSpPr>
        <p:sp>
          <p:nvSpPr>
            <p:cNvPr id="237" name="Google Shape;421;p2"/>
            <p:cNvSpPr/>
            <p:nvPr/>
          </p:nvSpPr>
          <p:spPr>
            <a:xfrm rot="18319800">
              <a:off x="5641200" y="495360"/>
              <a:ext cx="2185920" cy="2483280"/>
            </a:xfrm>
            <a:custGeom>
              <a:avLst/>
              <a:gdLst/>
              <a:ahLst/>
              <a:rect l="l" t="t" r="r" b="b"/>
              <a:pathLst>
                <a:path w="338" h="384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Google Shape;422;p2"/>
            <p:cNvSpPr/>
            <p:nvPr/>
          </p:nvSpPr>
          <p:spPr>
            <a:xfrm rot="18319800">
              <a:off x="5898960" y="779400"/>
              <a:ext cx="1787760" cy="2183400"/>
            </a:xfrm>
            <a:custGeom>
              <a:avLst/>
              <a:gdLst/>
              <a:ahLst/>
              <a:rect l="l" t="t" r="r" b="b"/>
              <a:pathLst>
                <a:path w="288" h="352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b61249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23;p2"/>
            <p:cNvSpPr/>
            <p:nvPr/>
          </p:nvSpPr>
          <p:spPr>
            <a:xfrm>
              <a:off x="6015600" y="1351440"/>
              <a:ext cx="1575360" cy="56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Organize Your Ideas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240" name="Google Shape;424;p2"/>
          <p:cNvGrpSpPr/>
          <p:nvPr/>
        </p:nvGrpSpPr>
        <p:grpSpPr>
          <a:xfrm>
            <a:off x="4191120" y="1884240"/>
            <a:ext cx="3421080" cy="3117960"/>
            <a:chOff x="4191120" y="1884240"/>
            <a:chExt cx="3421080" cy="3117960"/>
          </a:xfrm>
        </p:grpSpPr>
        <p:sp>
          <p:nvSpPr>
            <p:cNvPr id="241" name="Google Shape;425;p2"/>
            <p:cNvSpPr/>
            <p:nvPr/>
          </p:nvSpPr>
          <p:spPr>
            <a:xfrm rot="18319800">
              <a:off x="5090040" y="1938960"/>
              <a:ext cx="1622520" cy="3043080"/>
            </a:xfrm>
            <a:custGeom>
              <a:avLst/>
              <a:gdLst/>
              <a:ahLst/>
              <a:rect l="l" t="t" r="r" b="b"/>
              <a:pathLst>
                <a:path w="251" h="47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26;p2"/>
            <p:cNvSpPr/>
            <p:nvPr/>
          </p:nvSpPr>
          <p:spPr>
            <a:xfrm rot="18319800">
              <a:off x="5267880" y="1988280"/>
              <a:ext cx="1573200" cy="2548080"/>
            </a:xfrm>
            <a:custGeom>
              <a:avLst/>
              <a:gdLst/>
              <a:ahLst/>
              <a:rect l="l" t="t" r="r" b="b"/>
              <a:pathLst>
                <a:path w="254" h="411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840d35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427;p2"/>
            <p:cNvSpPr/>
            <p:nvPr/>
          </p:nvSpPr>
          <p:spPr>
            <a:xfrm flipH="1" rot="3725400">
              <a:off x="5095080" y="3061800"/>
              <a:ext cx="1575000" cy="5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Accountability </a:t>
              </a:r>
              <a:endParaRPr b="0" lang="en-HK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518976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Concept Map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8396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Main idea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Sub topics</a:t>
            </a:r>
            <a:endParaRPr b="0" lang="en-HK" sz="32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first point of sub topics</a:t>
            </a:r>
            <a:endParaRPr b="0" lang="en-HK" sz="28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second point of sub topics</a:t>
            </a:r>
            <a:endParaRPr b="0" lang="en-HK" sz="2800" spc="-1" strike="noStrike">
              <a:latin typeface="Arial"/>
            </a:endParaRPr>
          </a:p>
          <a:p>
            <a:pPr marL="288000">
              <a:lnSpc>
                <a:spcPct val="100000"/>
              </a:lnSpc>
              <a:spcBef>
                <a:spcPts val="283"/>
              </a:spcBef>
              <a:spcAft>
                <a:spcPts val="1134"/>
              </a:spcAft>
              <a:buNone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continuation of the sub topics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pic>
        <p:nvPicPr>
          <p:cNvPr id="246" name="Google Shape;434;p3" descr=""/>
          <p:cNvPicPr/>
          <p:nvPr/>
        </p:nvPicPr>
        <p:blipFill>
          <a:blip r:embed="rId1"/>
          <a:stretch/>
        </p:blipFill>
        <p:spPr>
          <a:xfrm>
            <a:off x="5437800" y="115200"/>
            <a:ext cx="3025800" cy="42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</a:t>
            </a:r>
            <a:endParaRPr b="0" lang="en-HK" sz="26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1218960"/>
            <a:ext cx="851796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HK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Interesting opening “hook”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Background info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Thesis statement</a:t>
            </a:r>
            <a:endParaRPr b="0" lang="en-HK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Body</a:t>
            </a:r>
            <a:endParaRPr b="0" lang="en-HK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1st main supporting point → topic sentence(s)</a:t>
            </a:r>
            <a:endParaRPr b="0" lang="en-HK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2nd main supporting point → topic sentence(s)</a:t>
            </a:r>
            <a:endParaRPr b="0" lang="en-HK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HK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Conclusion</a:t>
            </a:r>
            <a:endParaRPr b="0" lang="en-HK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Reiterate thesis statement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Summarize supporting arguments</a:t>
            </a:r>
            <a:endParaRPr b="0" lang="en-HK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HK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HK" sz="1800" spc="-1" strike="noStrike">
              <a:latin typeface="Arial"/>
            </a:endParaRPr>
          </a:p>
        </p:txBody>
      </p:sp>
      <p:sp>
        <p:nvSpPr>
          <p:cNvPr id="249" name="Google Shape;441;p4"/>
          <p:cNvSpPr/>
          <p:nvPr/>
        </p:nvSpPr>
        <p:spPr>
          <a:xfrm flipH="1">
            <a:off x="4723200" y="410040"/>
            <a:ext cx="3311640" cy="157392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952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9c254d"/>
                </a:solidFill>
                <a:latin typeface="Roboto"/>
                <a:ea typeface="Roboto"/>
              </a:rPr>
              <a:t>You don’t have to draft the paper in this same order! Try writing the body, then intro, then conclusion. 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250" name="Google Shape;442;p4" descr=""/>
          <p:cNvPicPr/>
          <p:nvPr/>
        </p:nvPicPr>
        <p:blipFill>
          <a:blip r:embed="rId1"/>
          <a:srcRect l="23145" t="15779" r="24678" b="9781"/>
          <a:stretch/>
        </p:blipFill>
        <p:spPr>
          <a:xfrm>
            <a:off x="7115040" y="1641960"/>
            <a:ext cx="1449720" cy="232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11760" y="14760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 IMRAD formatted manuscripts*</a:t>
            </a:r>
            <a:endParaRPr b="0" lang="en-HK" sz="26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11760" y="755280"/>
            <a:ext cx="5330520" cy="4159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HK" sz="18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Set the context</a:t>
            </a:r>
            <a:endParaRPr b="0" lang="en-HK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Credible background information</a:t>
            </a:r>
            <a:endParaRPr b="0" lang="en-HK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Previous research</a:t>
            </a:r>
            <a:endParaRPr b="0" lang="en-HK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Define the knowledge gap</a:t>
            </a:r>
            <a:endParaRPr b="0" lang="en-HK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Outline your objectives, hypotheses, or research questions</a:t>
            </a:r>
            <a:endParaRPr b="0" lang="en-HK" sz="13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Methods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site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population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Research steps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Results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Follow the same layout as the methods section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Discussion/Conclusion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link back to introduction, come full circle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How did this research fill a knowledge gap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253" name="Google Shape;449;p5" descr=""/>
          <p:cNvPicPr/>
          <p:nvPr/>
        </p:nvPicPr>
        <p:blipFill>
          <a:blip r:embed="rId1"/>
          <a:stretch/>
        </p:blipFill>
        <p:spPr>
          <a:xfrm>
            <a:off x="4635720" y="755280"/>
            <a:ext cx="4194000" cy="30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2a3990"/>
                </a:solidFill>
                <a:latin typeface="Roboto"/>
                <a:ea typeface="Roboto"/>
              </a:rPr>
              <a:t>Reverse Outlines: Produce an outline from a draft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11760" y="1229760"/>
            <a:ext cx="425772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Ideas evolve as you write, so sometimes a reverse outline may better suit your needs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If you write to think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Checks your organization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Identify main points to easily move sections around in your draft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You can do both! 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Compare your reverse outline to your original outline</a:t>
            </a:r>
            <a:endParaRPr b="0" lang="en-HK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6" name="Google Shape;456;p6"/>
          <p:cNvSpPr/>
          <p:nvPr/>
        </p:nvSpPr>
        <p:spPr>
          <a:xfrm>
            <a:off x="4715280" y="1351440"/>
            <a:ext cx="1880640" cy="2590560"/>
          </a:xfrm>
          <a:prstGeom prst="rect">
            <a:avLst/>
          </a:pr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Google Shape;457;p6"/>
          <p:cNvSpPr/>
          <p:nvPr/>
        </p:nvSpPr>
        <p:spPr>
          <a:xfrm>
            <a:off x="4844520" y="16203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458;p6"/>
          <p:cNvSpPr/>
          <p:nvPr/>
        </p:nvSpPr>
        <p:spPr>
          <a:xfrm>
            <a:off x="5091840" y="19216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Google Shape;459;p6"/>
          <p:cNvSpPr/>
          <p:nvPr/>
        </p:nvSpPr>
        <p:spPr>
          <a:xfrm>
            <a:off x="4844520" y="21189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Google Shape;460;p6"/>
          <p:cNvSpPr/>
          <p:nvPr/>
        </p:nvSpPr>
        <p:spPr>
          <a:xfrm>
            <a:off x="4844520" y="22928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Google Shape;461;p6"/>
          <p:cNvSpPr/>
          <p:nvPr/>
        </p:nvSpPr>
        <p:spPr>
          <a:xfrm>
            <a:off x="4844520" y="24454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Google Shape;462;p6"/>
          <p:cNvSpPr/>
          <p:nvPr/>
        </p:nvSpPr>
        <p:spPr>
          <a:xfrm>
            <a:off x="5091840" y="259776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Google Shape;463;p6"/>
          <p:cNvSpPr/>
          <p:nvPr/>
        </p:nvSpPr>
        <p:spPr>
          <a:xfrm>
            <a:off x="4844520" y="27950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Google Shape;464;p6"/>
          <p:cNvSpPr/>
          <p:nvPr/>
        </p:nvSpPr>
        <p:spPr>
          <a:xfrm>
            <a:off x="4844520" y="296892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465;p6"/>
          <p:cNvSpPr/>
          <p:nvPr/>
        </p:nvSpPr>
        <p:spPr>
          <a:xfrm>
            <a:off x="4844520" y="312120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Google Shape;466;p6"/>
          <p:cNvSpPr/>
          <p:nvPr/>
        </p:nvSpPr>
        <p:spPr>
          <a:xfrm>
            <a:off x="5091840" y="32734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Google Shape;467;p6"/>
          <p:cNvSpPr/>
          <p:nvPr/>
        </p:nvSpPr>
        <p:spPr>
          <a:xfrm>
            <a:off x="4844520" y="34707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Google Shape;468;p6"/>
          <p:cNvSpPr/>
          <p:nvPr/>
        </p:nvSpPr>
        <p:spPr>
          <a:xfrm>
            <a:off x="4844520" y="36446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Google Shape;469;p6"/>
          <p:cNvSpPr/>
          <p:nvPr/>
        </p:nvSpPr>
        <p:spPr>
          <a:xfrm>
            <a:off x="4844520" y="37972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Google Shape;470;p6"/>
          <p:cNvSpPr/>
          <p:nvPr/>
        </p:nvSpPr>
        <p:spPr>
          <a:xfrm>
            <a:off x="6469200" y="193248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Google Shape;471;p6"/>
          <p:cNvSpPr/>
          <p:nvPr/>
        </p:nvSpPr>
        <p:spPr>
          <a:xfrm>
            <a:off x="7329960" y="17870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Google Shape;472;p6"/>
          <p:cNvSpPr/>
          <p:nvPr/>
        </p:nvSpPr>
        <p:spPr>
          <a:xfrm>
            <a:off x="6469200" y="263052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Google Shape;473;p6"/>
          <p:cNvSpPr/>
          <p:nvPr/>
        </p:nvSpPr>
        <p:spPr>
          <a:xfrm>
            <a:off x="7329960" y="258768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Google Shape;474;p6"/>
          <p:cNvSpPr/>
          <p:nvPr/>
        </p:nvSpPr>
        <p:spPr>
          <a:xfrm>
            <a:off x="6469200" y="332856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Google Shape;475;p6"/>
          <p:cNvSpPr/>
          <p:nvPr/>
        </p:nvSpPr>
        <p:spPr>
          <a:xfrm>
            <a:off x="7329960" y="32108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5680" y="1151280"/>
            <a:ext cx="4042800" cy="156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Using Graphic Organizers</a:t>
            </a:r>
            <a:endParaRPr b="0" lang="en-HK" sz="42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65680" y="2769120"/>
            <a:ext cx="4042800" cy="126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434343"/>
                </a:solidFill>
                <a:latin typeface="Roboto"/>
                <a:ea typeface="Roboto"/>
              </a:rPr>
              <a:t>Visual Strategies for Outlining</a:t>
            </a:r>
            <a:endParaRPr b="0" lang="en-HK" sz="2100" spc="-1" strike="noStrike">
              <a:latin typeface="Arial"/>
            </a:endParaRPr>
          </a:p>
        </p:txBody>
      </p:sp>
      <p:sp>
        <p:nvSpPr>
          <p:cNvPr id="278" name="Google Shape;482;p7"/>
          <p:cNvSpPr/>
          <p:nvPr/>
        </p:nvSpPr>
        <p:spPr>
          <a:xfrm>
            <a:off x="5199480" y="1028880"/>
            <a:ext cx="322560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1.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79" name="Google Shape;483;p7"/>
          <p:cNvSpPr/>
          <p:nvPr/>
        </p:nvSpPr>
        <p:spPr>
          <a:xfrm>
            <a:off x="5586840" y="15361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a)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80" name="Google Shape;484;p7"/>
          <p:cNvSpPr/>
          <p:nvPr/>
        </p:nvSpPr>
        <p:spPr>
          <a:xfrm>
            <a:off x="5586840" y="20437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b)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81" name="Google Shape;485;p7"/>
          <p:cNvSpPr/>
          <p:nvPr/>
        </p:nvSpPr>
        <p:spPr>
          <a:xfrm>
            <a:off x="5145480" y="2769120"/>
            <a:ext cx="214956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Google Shape;486;p7"/>
          <p:cNvSpPr/>
          <p:nvPr/>
        </p:nvSpPr>
        <p:spPr>
          <a:xfrm>
            <a:off x="6404760" y="2768760"/>
            <a:ext cx="202032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634480" y="100080"/>
            <a:ext cx="650700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Sequence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884040" y="1200240"/>
            <a:ext cx="4799880" cy="31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Order events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Timeline of events 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Steps in a process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Relationship between cause &amp; effect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285" name="Google Shape;493;p8" descr=""/>
          <p:cNvPicPr/>
          <p:nvPr/>
        </p:nvPicPr>
        <p:blipFill>
          <a:blip r:embed="rId1"/>
          <a:stretch/>
        </p:blipFill>
        <p:spPr>
          <a:xfrm>
            <a:off x="553320" y="308520"/>
            <a:ext cx="3328560" cy="425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Story Map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1365480" y="2290320"/>
            <a:ext cx="3128040" cy="23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4648320" y="1200240"/>
            <a:ext cx="4035960" cy="339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Helps students identify &amp; examine different parts of the reading</a:t>
            </a:r>
            <a:endParaRPr b="0" lang="en-HK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Non-fiction and fiction</a:t>
            </a:r>
            <a:endParaRPr b="0" lang="en-HK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Learn to summarize the reading</a:t>
            </a:r>
            <a:endParaRPr b="0" lang="en-HK" sz="2800" spc="-1" strike="noStrike">
              <a:latin typeface="Arial"/>
            </a:endParaRPr>
          </a:p>
        </p:txBody>
      </p:sp>
      <p:pic>
        <p:nvPicPr>
          <p:cNvPr id="289" name="Google Shape;501;p9" descr=""/>
          <p:cNvPicPr/>
          <p:nvPr/>
        </p:nvPicPr>
        <p:blipFill>
          <a:blip r:embed="rId1"/>
          <a:stretch/>
        </p:blipFill>
        <p:spPr>
          <a:xfrm>
            <a:off x="386640" y="1200240"/>
            <a:ext cx="4035960" cy="311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Compare &amp; Contrast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7208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alike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different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Where circles overlap, </a:t>
            </a:r>
            <a:endParaRPr b="0" lang="en-HK" sz="32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similarities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Roboto Light"/>
              <a:buChar char="•"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Venn Diagram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292" name="Google Shape;508;p10" descr=""/>
          <p:cNvPicPr/>
          <p:nvPr/>
        </p:nvPicPr>
        <p:blipFill>
          <a:blip r:embed="rId1"/>
          <a:stretch/>
        </p:blipFill>
        <p:spPr>
          <a:xfrm>
            <a:off x="4752720" y="953280"/>
            <a:ext cx="4388760" cy="339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Vanessa</dc:creator>
  <dc:description/>
  <dc:language>en-HK</dc:language>
  <cp:lastModifiedBy/>
  <dcterms:modified xsi:type="dcterms:W3CDTF">2025-09-17T14:16:49Z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全屏显示(16:9)</vt:lpwstr>
  </property>
  <property fmtid="{D5CDD505-2E9C-101B-9397-08002B2CF9AE}" pid="4" name="Slides">
    <vt:i4>10</vt:i4>
  </property>
</Properties>
</file>