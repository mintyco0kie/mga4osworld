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dt" idx="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ftr" idx="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 type="sldNum" idx="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11803B9-592B-4E0A-BA0A-CEA25AC9C205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highlight>
                  <a:srgbClr val="000000"/>
                </a:highlight>
                <a:latin typeface="Arial"/>
                <a:ea typeface="Arial"/>
              </a:rPr>
              <a:t>Hey, is this style double spaced or single spaced? Or is the title page single spaced??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highlight>
                  <a:srgbClr val="000000"/>
                </a:highlight>
                <a:latin typeface="Arial"/>
                <a:ea typeface="Arial"/>
              </a:rPr>
              <a:t>Is primary the same as first? Use consistent language</a:t>
            </a:r>
            <a:endParaRPr b="0" lang="en-HK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highlight>
                  <a:srgbClr val="000000"/>
                </a:highlight>
                <a:latin typeface="Arial"/>
                <a:ea typeface="Arial"/>
              </a:rPr>
              <a:t>Two lines single or double spaced? 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highlight>
                  <a:srgbClr val="000000"/>
                </a:highlight>
                <a:latin typeface="Arial"/>
                <a:ea typeface="Arial"/>
              </a:rPr>
              <a:t>The Multiple authors part is a little confusing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BC7E7A6-BB96-4999-8296-3CF1E5D53782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BEC73E9-19B1-4ED6-BDDC-FBD250B0077B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CE261C2-DA24-4A35-9B68-D229CF19A6D9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D419B19-0407-4356-8EFF-1A9F42E278F5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7E18AE8-910A-4095-B161-89EDB3F947AE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311760" y="391320"/>
            <a:ext cx="8519760" cy="28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F593AD8-FD3E-4F5C-8B63-8CEDBE77DD6C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3870CF9-2129-43CD-93AB-5D07E421E334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CA44349-9254-43D7-9989-EFAA0999BA1E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359F98E-BB37-40BD-A980-77FC0C47C119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2BE374A-E46D-4813-BD62-B62C32CA5DF3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0D66458-BD08-4D87-B3BD-B159F91E068A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C4D6BB5-6AC1-447A-ADB0-B61FA095BD1D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4DFADB-63A4-47EA-8C6F-A51E5F732722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0EBB92-6536-43DC-91CA-1926C02A3456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A9D525-BBAB-48C2-A08D-E5AE87858055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C03E60-1784-4E6E-B3CA-587A4B08F199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2F18A3-6DF8-4047-B67C-B8C387A98BD3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311760" y="391320"/>
            <a:ext cx="8519760" cy="28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A5D357-D6ED-450F-B6E2-E62E95A9625E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DAAB95-6650-4451-A412-AAF8FA447DD9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C0C1F5-335E-4080-98D0-BEA645FBFF83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AC7E3F-67F1-4376-B6DD-7EA62A19DFE3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CCE58C-01BA-4ABE-87EB-D57B62B394F4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98DD10-406C-42E2-9375-1183FF2401D6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C13793-436A-45ED-8AF4-A72052770636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7215B5-B941-4BC1-899F-85308E85255D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B31D5D-76E3-46E9-8B88-AD243DEACAC7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30638E-94C8-4134-99ED-E52A1EAC90B1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889689-BFA7-43E4-81C8-762488C893C1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5E97F4-C346-434C-920A-C06A5263F31A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ubTitle"/>
          </p:nvPr>
        </p:nvSpPr>
        <p:spPr>
          <a:xfrm>
            <a:off x="311760" y="391320"/>
            <a:ext cx="8519760" cy="28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2A61B4-1F9C-405F-8161-91F0B20FF2FF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135C89-7792-40B2-950E-2A79BA3AE664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489989-9EA2-4144-ADC1-9BE13E42C333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57AA93-337A-4FF3-B3E3-A2F0D671AD8F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4C6630-8627-4760-8097-0182747C35B1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51D34C-206C-459B-ABF9-137FEA63C8D5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7"/>
          <p:cNvSpPr>
            <a:spLocks noGrp="1"/>
          </p:cNvSpPr>
          <p:nvPr>
            <p:ph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7453A7-448B-4883-A381-07AA9D231F4B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AB2467A-1A73-405C-A4C7-F8B3C514A379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9330867-0345-4BC1-B0BC-5ACACD9D33FD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89ACBBD-7A45-4D9C-B41A-470C94240784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22DF75A-2CA1-41A0-9F68-18DD136D5D8E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ACB5608-F835-4BEB-93D0-CA7F4B6FFFAF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ubTitle"/>
          </p:nvPr>
        </p:nvSpPr>
        <p:spPr>
          <a:xfrm>
            <a:off x="311760" y="391320"/>
            <a:ext cx="8519760" cy="28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9EEDAD1-E5FE-4D81-B786-FA56C73CADCD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E872F04-F3FB-44D8-B56A-4554CFC6FEDF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243DDDC-7D4A-47CF-8CE5-16424B410515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DA07F62-A949-4742-A708-96791477F039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39570FA-2D26-4675-AB32-4015EB7FF3DC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6DF166D-7515-41FC-A62A-8B11F61E32B1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6"/>
          <p:cNvSpPr>
            <a:spLocks noGrp="1"/>
          </p:cNvSpPr>
          <p:nvPr>
            <p:ph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7"/>
          <p:cNvSpPr>
            <a:spLocks noGrp="1"/>
          </p:cNvSpPr>
          <p:nvPr>
            <p:ph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DA97A8A-49A9-41D9-B746-D667BE8F4AD5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16"/>
          <p:cNvSpPr/>
          <p:nvPr/>
        </p:nvSpPr>
        <p:spPr>
          <a:xfrm>
            <a:off x="2748960" y="748800"/>
            <a:ext cx="3645360" cy="36453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Google Shape;11;p16"/>
          <p:cNvSpPr/>
          <p:nvPr/>
        </p:nvSpPr>
        <p:spPr>
          <a:xfrm>
            <a:off x="2993040" y="992880"/>
            <a:ext cx="3157560" cy="3157560"/>
          </a:xfrm>
          <a:prstGeom prst="rect">
            <a:avLst/>
          </a:prstGeom>
          <a:noFill/>
          <a:ln w="2857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000000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49691D7-1BBE-4101-8EBC-196C583A9502}" type="slidenum">
              <a:rPr b="0" lang="en" sz="1000" spc="-1" strike="noStrike">
                <a:solidFill>
                  <a:srgbClr val="000000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76;p18"/>
          <p:cNvSpPr/>
          <p:nvPr/>
        </p:nvSpPr>
        <p:spPr>
          <a:xfrm>
            <a:off x="0" y="5045760"/>
            <a:ext cx="914328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000000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0DD02CF-B094-4BC8-84E6-F73DD66E236F}" type="slidenum">
              <a:rPr b="0" lang="en" sz="1000" spc="-1" strike="noStrike">
                <a:solidFill>
                  <a:srgbClr val="000000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41;p20"/>
          <p:cNvSpPr/>
          <p:nvPr/>
        </p:nvSpPr>
        <p:spPr>
          <a:xfrm>
            <a:off x="0" y="5045760"/>
            <a:ext cx="914328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PlaceHolder 1"/>
          <p:cNvSpPr>
            <a:spLocks noGrp="1"/>
          </p:cNvSpPr>
          <p:nvPr>
            <p:ph type="sldNum" idx="3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000000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4D96E63-A9C4-4D01-82C8-D43679647798}" type="slidenum">
              <a:rPr b="0" lang="en" sz="1000" spc="-1" strike="noStrike">
                <a:solidFill>
                  <a:srgbClr val="000000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sldNum" idx="4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000000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EBF674B-D907-4D27-B223-392A958ECD91}" type="slidenum">
              <a:rPr b="0" lang="en" sz="1000" spc="-1" strike="noStrike">
                <a:solidFill>
                  <a:srgbClr val="000000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documents.saa.org/container/docs/default-source/doc-publications/style-guide/saa-style-guide_updated-july-2018c5062f7e55154959ab57564384bda7de.pdf?sfvrsn=8247640e_6" TargetMode="External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3096360" y="1627200"/>
            <a:ext cx="2950560" cy="1583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fffff"/>
                </a:solidFill>
                <a:latin typeface="Lato"/>
                <a:ea typeface="Lato"/>
              </a:rPr>
              <a:t>SAA Format Guide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subTitle"/>
          </p:nvPr>
        </p:nvSpPr>
        <p:spPr>
          <a:xfrm>
            <a:off x="3096360" y="3267000"/>
            <a:ext cx="2950560" cy="700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ffffff"/>
                </a:solidFill>
                <a:latin typeface="Playfair Display"/>
                <a:ea typeface="Playfair Display"/>
              </a:rPr>
              <a:t>FHSS Writing Lab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8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c9211e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008C095-A63A-4721-B063-90643CCBB4DD}" type="slidenum">
              <a:rPr b="0" lang="en" sz="1000" spc="-1" strike="noStrike">
                <a:solidFill>
                  <a:srgbClr val="c9211e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solidFill>
                <a:srgbClr val="c9211e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Title Page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5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Title of work in all caps, bolded, and centered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Author(s)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The words “DO NOT CITE IN ANY CONTEXT WITHOUT PERMISSION OF THE AUTHOR(S)” in all caps, unbolded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Authors’ affiliations, flush left, author bolded with a colon separating authors’ name and affiliation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9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EA9E583-F445-4ABF-9017-057F5856B86D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288;p3" descr=""/>
          <p:cNvPicPr/>
          <p:nvPr/>
        </p:nvPicPr>
        <p:blipFill>
          <a:blip r:embed="rId1"/>
          <a:stretch/>
        </p:blipFill>
        <p:spPr>
          <a:xfrm>
            <a:off x="2492280" y="152280"/>
            <a:ext cx="4158720" cy="4838040"/>
          </a:xfrm>
          <a:prstGeom prst="rect">
            <a:avLst/>
          </a:prstGeom>
          <a:ln w="9525">
            <a:solidFill>
              <a:srgbClr val="5e696c"/>
            </a:solidFill>
            <a:round/>
          </a:ln>
        </p:spPr>
      </p:pic>
      <p:sp>
        <p:nvSpPr>
          <p:cNvPr id="174" name="Google Shape;289;p3"/>
          <p:cNvSpPr/>
          <p:nvPr/>
        </p:nvSpPr>
        <p:spPr>
          <a:xfrm>
            <a:off x="205200" y="1104840"/>
            <a:ext cx="250884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Title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75" name="Google Shape;290;p3"/>
          <p:cNvSpPr/>
          <p:nvPr/>
        </p:nvSpPr>
        <p:spPr>
          <a:xfrm>
            <a:off x="205200" y="1694880"/>
            <a:ext cx="250884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Author(s)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76" name="Google Shape;291;p3"/>
          <p:cNvSpPr/>
          <p:nvPr/>
        </p:nvSpPr>
        <p:spPr>
          <a:xfrm>
            <a:off x="205200" y="2611080"/>
            <a:ext cx="250884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These words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77" name="Google Shape;292;p3"/>
          <p:cNvSpPr/>
          <p:nvPr/>
        </p:nvSpPr>
        <p:spPr>
          <a:xfrm>
            <a:off x="205200" y="3745440"/>
            <a:ext cx="250884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Affiliation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sldNum" idx="10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60EA07A-1D41-45DD-A14B-D8B7D854A866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Headings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First level headings should be centered, bolded, title case capitalization, and a single line of space above and below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Second level headings are flush left, italicized, title case capitalization, and with a single line of space above and below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Third level headings are part of the paragraph, with an indent, italicized, title case capitalization, and followed by a period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The text immediately follows this period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Do not use “INTRODUCTION” or “ABSTRACT” as headings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References Cited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 is a primary-level heading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1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42E1278-76EF-43C9-9B84-8714AABB08CD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305;p5" descr=""/>
          <p:cNvPicPr/>
          <p:nvPr/>
        </p:nvPicPr>
        <p:blipFill>
          <a:blip r:embed="rId1"/>
          <a:stretch/>
        </p:blipFill>
        <p:spPr>
          <a:xfrm>
            <a:off x="1215720" y="397080"/>
            <a:ext cx="3303000" cy="4348800"/>
          </a:xfrm>
          <a:prstGeom prst="rect">
            <a:avLst/>
          </a:prstGeom>
          <a:ln w="9525">
            <a:solidFill>
              <a:srgbClr val="5e696c"/>
            </a:solidFill>
            <a:round/>
          </a:ln>
        </p:spPr>
      </p:pic>
      <p:pic>
        <p:nvPicPr>
          <p:cNvPr id="183" name="Google Shape;306;p5" descr=""/>
          <p:cNvPicPr/>
          <p:nvPr/>
        </p:nvPicPr>
        <p:blipFill>
          <a:blip r:embed="rId2"/>
          <a:stretch/>
        </p:blipFill>
        <p:spPr>
          <a:xfrm>
            <a:off x="4821480" y="397080"/>
            <a:ext cx="3601800" cy="4348800"/>
          </a:xfrm>
          <a:prstGeom prst="rect">
            <a:avLst/>
          </a:prstGeom>
          <a:ln w="9525">
            <a:solidFill>
              <a:srgbClr val="5e696c"/>
            </a:solidFill>
            <a:round/>
          </a:ln>
        </p:spPr>
      </p:pic>
      <p:sp>
        <p:nvSpPr>
          <p:cNvPr id="184" name="Google Shape;307;p5"/>
          <p:cNvSpPr/>
          <p:nvPr/>
        </p:nvSpPr>
        <p:spPr>
          <a:xfrm>
            <a:off x="63000" y="1643040"/>
            <a:ext cx="184392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First level heading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85" name="Google Shape;308;p5"/>
          <p:cNvSpPr/>
          <p:nvPr/>
        </p:nvSpPr>
        <p:spPr>
          <a:xfrm flipH="1">
            <a:off x="7097760" y="947520"/>
            <a:ext cx="199656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Second level heading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86" name="Google Shape;309;p5"/>
          <p:cNvSpPr/>
          <p:nvPr/>
        </p:nvSpPr>
        <p:spPr>
          <a:xfrm flipH="1">
            <a:off x="7097760" y="3145320"/>
            <a:ext cx="199656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Third level heading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12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A6BD78B-EBF4-4A1D-9826-15466B5573CE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Numbers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All numbers above nine use numerals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Spell out numbers zero through nine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Spell out any numbers at the beginning of the sentence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Spell out numbers that are used in a general sense (not an actual number)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The archeologists recovered several hundred shards.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Ordinal numbers are always spelled out (i.e. seventh cycle, eighteenth century)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13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D4F27F7-ED44-4AA3-B26F-4D91BA2C6773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Italics/Quotations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Italics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99"/>
              </a:spcBef>
              <a:buClr>
                <a:srgbClr val="5e696c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Words in languages other than primary language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Titles of books, journals, etc., when mentioned in the text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Quotation Marks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99"/>
              </a:spcBef>
              <a:buClr>
                <a:srgbClr val="5e696c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When using direct quotes of four lines or less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Article titles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sldNum" idx="14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E9863C8-790B-4595-890D-ACA6ACE3EC12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In-Text Citations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Basic Format: (Last Name Year: page #) OR Last Name (Year: page #)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(Larson 2020: 13) / Larson (2020: 13)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Multiple pages (Last Name Year: #-#)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(Kindt 2020: 116-137) / Kindt (2020: 116-137)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Two Authors (Last Name and Last Name Year: page #)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(Reese and Hilton 2019: 36) / Reese and Hilton (2019:36)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5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5995052-73A0-4066-9E72-287499B342C8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In-Text Citations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Three Authors + (Last Name et al. Year: page #)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(Cass et al. 2018: 197) / Cass and others (2018: 197) ***Do not use et al. in text***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Separate the use of multiple citations with a semicolon (;)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(Pyper and Day 2020: 187; Nuccitelli and Judge 2020: 23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Page numbers are unnecessary unless using a direct quote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6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55ECDDA-3A10-4922-9943-93716300299E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References Cited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311760" y="94608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Titled “References Cited” bolded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Alphabetized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Primary level heading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All references cited must be in the References Cited page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No unused references should be included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Double spaced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Additional space between each citation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599"/>
              </a:spcBef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17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4D77C5D-E11A-4B1A-94F6-C627515974C8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Book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Format: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Last Name, First Name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Year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 </a:t>
            </a:r>
            <a:r>
              <a:rPr b="0" i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Title in Italics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. Publisher, Publication Place.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Example: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Cusworth, Zack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2020 </a:t>
            </a:r>
            <a:r>
              <a:rPr b="0" i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The Effects on Education on Gender. 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Barnacle Press, Denver, Colorado.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Multiple Authors: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Cusworth Zack, and Angela Stout, (and First Name Last Name)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(only the first author is last name, first name. Every other is first name last name) 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8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EFAB71F-063D-4580-9D1E-E695C47776CE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Online Journal Article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Format: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Last Name, First Name 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Year Title. </a:t>
            </a:r>
            <a:r>
              <a:rPr b="0" i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Journal Title in Italics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 volume#(issue#): ##-##. DOI:0000000000, accessed date.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Example: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Cusworth, Zack 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2018 Disney and Gender. </a:t>
            </a:r>
            <a:r>
              <a:rPr b="0" i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Family 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45(6): 33-42. DOI:000000, accessed July 26, 2019.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9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D1D23B0-4AA4-458C-AF0E-4CDE8F4C9CC6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Web Pages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666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Format: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Last Name, First Name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Year Title of Site. Electronic document, URL, accessed date month, day, year.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Example: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Cusworth, Zack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2017 Information on IEP. Electronic document, 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http://www.thisdoesnotmatter.com/987987987987098, accessed April 15, 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2019.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20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CCC9FF6-B697-48FA-8D16-0ACE1B2C701C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372;p14"/>
          <p:cNvSpPr/>
          <p:nvPr/>
        </p:nvSpPr>
        <p:spPr>
          <a:xfrm>
            <a:off x="128880" y="1094040"/>
            <a:ext cx="1534680" cy="39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7280" bIns="1972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Book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214" name="Google Shape;373;p14"/>
          <p:cNvSpPr/>
          <p:nvPr/>
        </p:nvSpPr>
        <p:spPr>
          <a:xfrm>
            <a:off x="128880" y="1974960"/>
            <a:ext cx="1534680" cy="39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7280" bIns="1972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Journal Article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215" name="Google Shape;374;p14"/>
          <p:cNvSpPr/>
          <p:nvPr/>
        </p:nvSpPr>
        <p:spPr>
          <a:xfrm>
            <a:off x="128880" y="3061080"/>
            <a:ext cx="1534680" cy="39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7280" bIns="1972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Website</a:t>
            </a:r>
            <a:endParaRPr b="0" lang="en-HK" sz="1400" spc="-1" strike="noStrike">
              <a:latin typeface="Arial"/>
            </a:endParaRPr>
          </a:p>
        </p:txBody>
      </p:sp>
      <p:pic>
        <p:nvPicPr>
          <p:cNvPr id="216" name="Google Shape;375;p14" descr=""/>
          <p:cNvPicPr/>
          <p:nvPr/>
        </p:nvPicPr>
        <p:blipFill>
          <a:blip r:embed="rId1"/>
          <a:stretch/>
        </p:blipFill>
        <p:spPr>
          <a:xfrm>
            <a:off x="1722960" y="451800"/>
            <a:ext cx="5697360" cy="4239360"/>
          </a:xfrm>
          <a:prstGeom prst="rect">
            <a:avLst/>
          </a:prstGeom>
          <a:ln w="9525">
            <a:solidFill>
              <a:srgbClr val="5e696c"/>
            </a:solidFill>
            <a:round/>
          </a:ln>
        </p:spPr>
      </p:pic>
      <p:sp>
        <p:nvSpPr>
          <p:cNvPr id="217" name="PlaceHolder 1"/>
          <p:cNvSpPr>
            <a:spLocks noGrp="1"/>
          </p:cNvSpPr>
          <p:nvPr>
            <p:ph type="sldNum" idx="21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961A52C-2287-4059-BB9A-3A25829A29A4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Questions? Go here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2400" spc="-1" strike="noStrike" u="sng">
                <a:solidFill>
                  <a:srgbClr val="af4345"/>
                </a:solidFill>
                <a:uFillTx/>
                <a:latin typeface="Arial"/>
                <a:ea typeface="Arial"/>
                <a:hlinkClick r:id="rId1"/>
              </a:rPr>
              <a:t>Editorial Policy,</a:t>
            </a:r>
            <a:endParaRPr b="0" lang="en-HK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22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FA1DF0B-CF07-4626-861E-0F5F724E55AA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Mallory Kindt</dc:creator>
  <dc:description/>
  <dc:language>en-HK</dc:language>
  <cp:lastModifiedBy/>
  <dcterms:modified xsi:type="dcterms:W3CDTF">2025-09-17T11:30:11Z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全屏显示(16:9)</vt:lpwstr>
  </property>
  <property fmtid="{D5CDD505-2E9C-101B-9397-08002B2CF9AE}" pid="4" name="Slides">
    <vt:i4>15</vt:i4>
  </property>
</Properties>
</file>